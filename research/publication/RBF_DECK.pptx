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Arial"/>
              </a:defRPr>
            </a:pPr>
            <a:r>
              <a:rPr sz="1300" b="0" i="0" u="none" strike="noStrike">
                <a:solidFill>
                  <a:srgbClr val="1A1A1A"/>
                </a:solidFill>
                <a:latin typeface="Arial"/>
              </a:rPr>
              <a:t>Seller: months above a 15% burden band</a:t>
            </a:r>
          </a:p>
        </c:rich>
      </c:tx>
      <c:layout/>
      <c:overlay val="0"/>
    </c:title>
    <c:autoTitleDeleted val="0"/>
    <c:plotArea>
      <c:layout/>
      <c:barChart>
        <c:barDir val="col"/>
        <c:grouping val="clustered"/>
        <c:varyColors val="0"/>
        <c:ser>
          <c:idx val="0"/>
          <c:order val="0"/>
          <c:tx>
            <c:strRef>
              <c:f>Sheet1!$B$1</c:f>
              <c:strCache>
                <c:ptCount val="1"/>
                <c:pt idx="0">
                  <c:v>Months above 15% burden</c:v>
                </c:pt>
              </c:strCache>
            </c:strRef>
          </c:tx>
          <c:spPr>
            <a:solidFill>
              <a:srgbClr val="0072B2"/>
            </a:solidFill>
            <a:effectLst/>
          </c:spPr>
          <c:invertIfNegative val="0"/>
          <c:dLbls>
            <c:numFmt formatCode="0.00" sourceLinked="0"/>
            <c:txPr>
              <a:bodyPr/>
              <a:lstStyle/>
              <a:p>
                <a:pPr>
                  <a:defRPr b="0" i="0" strike="noStrike" sz="13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0072B2"/>
              </a:solidFill>
              <a:effectLst/>
            </c:spPr>
          </c:dPt>
          <c:dPt>
            <c:idx val="1"/>
            <c:invertIfNegative val="0"/>
            <c:bubble3D val="0"/>
            <c:spPr>
              <a:solidFill>
                <a:srgbClr val="E69F00"/>
              </a:solidFill>
              <a:effectLst/>
            </c:spPr>
          </c:dPt>
          <c:cat>
            <c:multiLvlStrRef>
              <c:f>Sheet1!$A$2:$A$3</c:f>
              <c:multiLvlStrCache>
                <c:ptCount val="2"/>
                <c:lvl>
                  <c:pt idx="0">
                    <c:v>Revenue-contingent</c:v>
                  </c:pt>
                  <c:pt idx="1">
                    <c:v>Matched fixed</c:v>
                  </c:pt>
                </c:lvl>
              </c:multiLvlStrCache>
            </c:multiLvlStrRef>
          </c:cat>
          <c:val>
            <c:numRef>
              <c:f>Sheet1!$B$2:$B$3</c:f>
              <c:numCache>
                <c:formatCode>General</c:formatCode>
                <c:ptCount val="2"/>
                <c:pt idx="0">
                  <c:v>0</c:v>
                </c:pt>
                <c:pt idx="1">
                  <c:v>6.85</c:v>
                </c:pt>
              </c:numCache>
            </c:numRef>
          </c:val>
        </c:ser>
        <c:dLbls>
          <c:numFmt formatCode="0.00" sourceLinked="0"/>
          <c:txPr>
            <a:bodyPr/>
            <a:lstStyle/>
            <a:p>
              <a:pPr>
                <a:defRPr b="0" i="0" strike="noStrike" sz="13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12700" cap="flat">
              <a:solidFill>
                <a:srgbClr val="EDED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Arial"/>
              </a:defRPr>
            </a:pPr>
            <a:r>
              <a:rPr sz="1300" b="0" i="0" u="none" strike="noStrike">
                <a:solidFill>
                  <a:srgbClr val="1A1A1A"/>
                </a:solidFill>
                <a:latin typeface="Arial"/>
              </a:rPr>
              <a:t>Provider: share of target recovered by month 12</a:t>
            </a:r>
          </a:p>
        </c:rich>
      </c:tx>
      <c:layout/>
      <c:overlay val="0"/>
    </c:title>
    <c:autoTitleDeleted val="0"/>
    <c:plotArea>
      <c:layout/>
      <c:barChart>
        <c:barDir val="col"/>
        <c:grouping val="clustered"/>
        <c:varyColors val="0"/>
        <c:ser>
          <c:idx val="0"/>
          <c:order val="0"/>
          <c:tx>
            <c:strRef>
              <c:f>Sheet1!$B$1</c:f>
              <c:strCache>
                <c:ptCount val="1"/>
                <c:pt idx="0">
                  <c:v>Recovery by month 12 (%)</c:v>
                </c:pt>
              </c:strCache>
            </c:strRef>
          </c:tx>
          <c:spPr>
            <a:solidFill>
              <a:srgbClr val="0072B2"/>
            </a:solidFill>
            <a:effectLst/>
          </c:spPr>
          <c:invertIfNegative val="0"/>
          <c:dLbls>
            <c:numFmt formatCode="0.00" sourceLinked="0"/>
            <c:txPr>
              <a:bodyPr/>
              <a:lstStyle/>
              <a:p>
                <a:pPr>
                  <a:defRPr b="0" i="0" strike="noStrike" sz="13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0072B2"/>
              </a:solidFill>
              <a:effectLst/>
            </c:spPr>
          </c:dPt>
          <c:dPt>
            <c:idx val="1"/>
            <c:invertIfNegative val="0"/>
            <c:bubble3D val="0"/>
            <c:spPr>
              <a:solidFill>
                <a:srgbClr val="E69F00"/>
              </a:solidFill>
              <a:effectLst/>
            </c:spPr>
          </c:dPt>
          <c:cat>
            <c:multiLvlStrRef>
              <c:f>Sheet1!$A$2:$A$3</c:f>
              <c:multiLvlStrCache>
                <c:ptCount val="2"/>
                <c:lvl>
                  <c:pt idx="0">
                    <c:v>Revenue-contingent</c:v>
                  </c:pt>
                  <c:pt idx="1">
                    <c:v>Matched fixed</c:v>
                  </c:pt>
                </c:lvl>
              </c:multiLvlStrCache>
            </c:multiLvlStrRef>
          </c:cat>
          <c:val>
            <c:numRef>
              <c:f>Sheet1!$B$2:$B$3</c:f>
              <c:numCache>
                <c:formatCode>General</c:formatCode>
                <c:ptCount val="2"/>
                <c:pt idx="0">
                  <c:v>65.46</c:v>
                </c:pt>
                <c:pt idx="1">
                  <c:v>92.31</c:v>
                </c:pt>
              </c:numCache>
            </c:numRef>
          </c:val>
        </c:ser>
        <c:dLbls>
          <c:numFmt formatCode="0.00" sourceLinked="0"/>
          <c:txPr>
            <a:bodyPr/>
            <a:lstStyle/>
            <a:p>
              <a:pPr>
                <a:defRPr b="0" i="0" strike="noStrike" sz="13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12700" cap="flat">
              <a:solidFill>
                <a:srgbClr val="EDED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Arial"/>
              </a:defRPr>
            </a:pPr>
            <a:r>
              <a:rPr sz="1300" b="0" i="0" u="none" strike="noStrike">
                <a:solidFill>
                  <a:srgbClr val="1A1A1A"/>
                </a:solidFill>
                <a:latin typeface="Arial"/>
              </a:rPr>
              <a:t>Share of simulated paths not reaching the contractual target (%)</a:t>
            </a:r>
          </a:p>
        </c:rich>
      </c:tx>
      <c:layout/>
      <c:overlay val="0"/>
    </c:title>
    <c:autoTitleDeleted val="0"/>
    <c:plotArea>
      <c:layout/>
      <c:barChart>
        <c:barDir val="col"/>
        <c:grouping val="clustered"/>
        <c:varyColors val="0"/>
        <c:ser>
          <c:idx val="0"/>
          <c:order val="0"/>
          <c:tx>
            <c:strRef>
              <c:f>Sheet1!$B$1</c:f>
              <c:strCache>
                <c:ptCount val="1"/>
                <c:pt idx="0">
                  <c:v>f = 1.20</c:v>
                </c:pt>
              </c:strCache>
            </c:strRef>
          </c:tx>
          <c:spPr>
            <a:solidFill>
              <a:srgbClr val="0072B2"/>
            </a:solidFill>
            <a:effectLst/>
          </c:spPr>
          <c:invertIfNegative val="0"/>
          <c:dLbls>
            <c:numFmt formatCode="0.0" sourceLinked="0"/>
            <c:txPr>
              <a:bodyPr/>
              <a:lstStyle/>
              <a:p>
                <a:pPr>
                  <a:defRPr b="0" i="0" strike="noStrike" sz="12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Closure, month 7</c:v>
                  </c:pt>
                  <c:pt idx="1">
                    <c:v>Closure, month 13</c:v>
                  </c:pt>
                  <c:pt idx="2">
                    <c:v>Temporary closure</c:v>
                  </c:pt>
                </c:lvl>
              </c:multiLvlStrCache>
            </c:multiLvlStrRef>
          </c:cat>
          <c:val>
            <c:numRef>
              <c:f>Sheet1!$B$2:$B$4</c:f>
              <c:numCache>
                <c:formatCode>General</c:formatCode>
                <c:ptCount val="3"/>
                <c:pt idx="0">
                  <c:v>100</c:v>
                </c:pt>
                <c:pt idx="1">
                  <c:v>76.2</c:v>
                </c:pt>
                <c:pt idx="2">
                  <c:v>2</c:v>
                </c:pt>
              </c:numCache>
            </c:numRef>
          </c:val>
        </c:ser>
        <c:ser>
          <c:idx val="1"/>
          <c:order val="1"/>
          <c:tx>
            <c:strRef>
              <c:f>Sheet1!$C$1</c:f>
              <c:strCache>
                <c:ptCount val="1"/>
                <c:pt idx="0">
                  <c:v>f* = 1.0945</c:v>
                </c:pt>
              </c:strCache>
            </c:strRef>
          </c:tx>
          <c:spPr>
            <a:solidFill>
              <a:srgbClr val="009E73"/>
            </a:solidFill>
            <a:effectLst/>
          </c:spPr>
          <c:invertIfNegative val="0"/>
          <c:dLbls>
            <c:numFmt formatCode="0.0" sourceLinked="0"/>
            <c:txPr>
              <a:bodyPr/>
              <a:lstStyle/>
              <a:p>
                <a:pPr>
                  <a:defRPr b="0" i="0" strike="noStrike" sz="12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Closure, month 7</c:v>
                  </c:pt>
                  <c:pt idx="1">
                    <c:v>Closure, month 13</c:v>
                  </c:pt>
                  <c:pt idx="2">
                    <c:v>Temporary closure</c:v>
                  </c:pt>
                </c:lvl>
              </c:multiLvlStrCache>
            </c:multiLvlStrRef>
          </c:cat>
          <c:val>
            <c:numRef>
              <c:f>Sheet1!$C$2:$C$4</c:f>
              <c:numCache>
                <c:formatCode>General</c:formatCode>
                <c:ptCount val="3"/>
                <c:pt idx="0">
                  <c:v>100</c:v>
                </c:pt>
                <c:pt idx="1">
                  <c:v>7.6</c:v>
                </c:pt>
                <c:pt idx="2">
                  <c:v>0</c:v>
                </c:pt>
              </c:numCache>
            </c:numRef>
          </c:val>
        </c:ser>
        <c:dLbls>
          <c:numFmt formatCode="0.0" sourceLinked="0"/>
          <c:txPr>
            <a:bodyPr/>
            <a:lstStyle/>
            <a:p>
              <a:pPr>
                <a:defRPr b="0" i="0" strike="noStrike" sz="12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12700" cap="flat">
              <a:solidFill>
                <a:srgbClr val="EDED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Arial"/>
              </a:defRPr>
            </a:pPr>
            <a:endParaRPr lang="en-US"/>
          </a:p>
        </c:txPr>
        <c:crossAx val="2094734554"/>
        <c:crosses val="autoZero"/>
        <c:crossBetween val="between"/>
        <c:majorUnit val="20"/>
      </c:valAx>
      <c:spPr>
        <a:noFill/>
        <a:ln>
          <a:noFill/>
        </a:ln>
        <a:effectLst/>
      </c:spPr>
    </c:plotArea>
    <c:legend>
      <c:legendPos val="t"/>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is a study of contract mechanics, not a claim about sellers. Say the disclaimer out loud — it is the reason the rest is credible. Note the scope: simulated magnitudes, not every figure — the propositions are proved, not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argument in one slide. The two cards are the same fact. If asked why 'roughly' flat: the final payment is clipped to the remaining balance, and the displayed denominator is GMV rather than net sales. If asked whether recovery is always slower: no — P4 gives the exact condition and both directions occur here.
[Sources]
  · Contractual burden flat by definition: DERIVATIONS.md P1
  · Fixed burden has elasticity −1: DERIVATIONS.md P2
  · Recovery ordering condition, realised mean base against B* = P/r: DERIVATIONS.md P4
  · Burden denominator disclosure (payment ÷ GMV): MANUSCRIPT.md §6.1; spec amendment A-1
  · Income-linked repayment as automatic insurance: L-15 Barr et al.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the negative claim. It is scoped to our searches, and that scoping is deliberate.
[Sources]
  · Search protocol and inclusion rules: LITERATURE_MATRIX.md §0.1, documented through 2026-08-13
  · Gap R-1 — no peer-reviewed study of the US merchant cash advance market found in those searches
  · Gap R-2 — no head-to-head burden/recovery comparison for small-business financing found
  · Closest published work: L-07 Russel, Shi &amp; Clarke (2025), South African payments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distinct ideas, do not merge them. Pairing = every arm sees the same generated path. Cost-matching = only RBF and FIX-A share principal, total and term. FIX-B is an outside price reference and is not matched to anything; its 18% is an assumption of ours.
[Sources]
  · Matched terms: baseline_v3_canonical.json and baseline_equalcost_v2_canonical.json → /match_benchmark_a
  · FIX-B’s 18% nominal is an assumed input, not a market rate — spec amendment A-8
  · Factor rate and APR are not commensurable without conversion: L-23 (NY 23 NYCRR 600), L-24 (California)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show the left chart without the right one. That pairing is the paper's central discipline. The pairing rule is general; this scenario's direction is not.
[Sources]
  · S-1 | baseline_v3_canonical.json → /scenarios/severe_downturn
  · Burden must be read across the distribution, not at the mean: L-13 Chapman et al. (2010)
  · Fixed schedules concentrate burden in low-income states: L-12 Chapman &amp; Lounkaew (2015)
  · 15% band is illustrative, chosen for this study — ledger Q-4, not a validated hardship cutoff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contribution. Both halves of the last line matter — separable is not the same as outcome-independent.
[Sources]
  · P-1, P-2 | validation_v2_canonical.json → /pricing/equal_cost, /pricing/benchmark_b_apr
  · Separability of price and payment rule: DERIVATIONS.md P6(a), P6(b)
  · Contingency can carry a premium in other domains — L-18 (human capital), L-19 (sovereign). Neither is SME finance; no general rule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Interviewers respond well to this slide. It demonstrates the discipline rather than asserting it.
[Sources]
  · Retraction recorded at D-015; CORRECTED_CLAIMS.md #2; CLAIM_LEDGER.md §6
  · Target proportional to f, APR jointly determined: DERIVATIONS.md P6(a), P6(b)
  · California SB 362 (2025), Chapter 352 — L-45, SECTION 1(e)(3) and Financial Code §22806
  · New York 23 NYCRR 600 commercial financing disclosure — L-23
  · California 2018 statute and 2022 implementing regulations — L-24; federal preemption determination — L-25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price effect: closure_m13 falls from 76.2% to 7.6% on the cap factor alone. Same structure, nearer threshold.
[Sources]
  · S-3 | baseline_closure_v2_canonical.json → /scenarios/*/RBF/incomplete_recovery_rate
  · S-4 | baseline_closure_equalcost_v2_canonical.json → same paths
  · Why a nearer cap completes sooner: DERIVATIONS.md P6(a), P7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stops the headline failure rate being misread as a loss rate.
[Sources]
  · I-3 | recovered amount = /scenarios/*/RBF/recovery_ratio/24 × /terms/cap, both closure artifacts; advance from /terms/A
  · closure_m7 is revenue-limited rather than cap-limited, hence identical at both cap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the 11.99 without the 76.2% would invert the finding. Survivor statistics describe the contracts that finished, not the portfolio.
[Sources]
  · baseline_closure_v2_canonical.json → /scenarios/closure_m13/RBF/duration_mean, /incomplete_recovery_rate
  · Conditioning on a non-random subsample is a specification error: L-36 Heckman (1979)
  · Conditioning on a common effect: L-37 Hernán, Hernández-Díaz &amp; Robins (2004)
  · Right-censoring machinery: L-32 Kaplan &amp; Meier (1958), L-33 Klein &amp; Moeschberger (2003)
  · Duration data in economics: L-34 Lancaster (1990), L-35 Van den Berg (2001)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section out loud in any interview. The restraint is the credential.
[Sources]
  · Circularity evidence: R-000 | research/analysis/00_audit_evidence.py — generating-function AUC 0.9098 vs reported ensemble 0.9182
  · Leakage inflating apparent performance, 294 papers across 17 fields: L-38 Kapoor &amp; Narayanan (2023)
  · Synthetic-data limits: L-39 van Breugel et al. (2023), L-40 Jordon et al. (2022)
  · No source states the specific circularity result (Gap S-1); argued from our own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corrected reproducibility claim is a better credential than the overstated one would have been. If asked: the checksum table covers simulation output only — proofs are backed by DERIVATIONS.md and cited facts by the literature matrix.
[Sources]
  · Five registered SHA-256 digests: MANUSCRIPT.md §15; RESULTS_REGISTRY.md
  · Byte vs numeric equality, reported separately: research/verify_reproduction.py (D-041)
  · 44 verified sources and 6 stated gaps: LITERATURE_MATRIX.md §0.1, §9
  · Test counts and the environment-dependent browser skip: RESEARCH_MANIFEST.md
  · Researcher degrees of freedom in simulation design: L-31 Pawel, Kook &amp; Reeve (2024)
  · Simulation-study reporting practice: L-27 Morris, White &amp; Crowther (2019)
  · Monte Carlo interval is not a confidence interval: L-28, L-29 (coverage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limitation, not on the result. It is the most defensible note to end on. Be clear that the calibration/identification split is our own reasoning about method, not a result we measured and not a finding we are attributing to anyone else.
[Sources]
  · Calibration versus causal identification: this project's own methodological inference, argued in MANUSCRIPT.md §13. No external source is cited for it, and none should be invented
  · Why observational data cannot supply the counterfactual: each seller takes at most one contract — MANUSCRIPT.md §2, Gap R-2
  · Search protocol behind that gap: LITERATURE_MATRIX.md §0.1, documented through 2026-08-13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1737360"/>
            <a:ext cx="10515600" cy="173736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Revenue-Contingent Financing</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Under Volatile Sales</a:t>
            </a:r>
            <a:endParaRPr lang="en-US" sz="4000" dirty="0"/>
          </a:p>
        </p:txBody>
      </p:sp>
      <p:sp>
        <p:nvSpPr>
          <p:cNvPr id="3" name="Text 1"/>
          <p:cNvSpPr/>
          <p:nvPr/>
        </p:nvSpPr>
        <p:spPr>
          <a:xfrm>
            <a:off x="822960" y="3566160"/>
            <a:ext cx="10515600" cy="457200"/>
          </a:xfrm>
          <a:prstGeom prst="rect">
            <a:avLst/>
          </a:prstGeom>
          <a:noFill/>
          <a:ln/>
        </p:spPr>
        <p:txBody>
          <a:bodyPr wrap="square" lIns="0" tIns="0" rIns="0" bIns="0" rtlCol="0" anchor="ctr"/>
          <a:lstStyle/>
          <a:p>
            <a:pPr indent="0" marL="0">
              <a:buNone/>
            </a:pPr>
            <a:r>
              <a:rPr lang="en-US" sz="1900" dirty="0">
                <a:solidFill>
                  <a:srgbClr val="CFCFCF"/>
                </a:solidFill>
                <a:latin typeface="Calibri" pitchFamily="34" charset="0"/>
                <a:ea typeface="Calibri" pitchFamily="34" charset="-122"/>
                <a:cs typeface="Calibri" pitchFamily="34" charset="-120"/>
              </a:rPr>
              <a:t>Separating price from structure in a paired simulation study</a:t>
            </a:r>
            <a:endParaRPr lang="en-US" sz="1900" dirty="0"/>
          </a:p>
        </p:txBody>
      </p:sp>
      <p:sp>
        <p:nvSpPr>
          <p:cNvPr id="4" name="Shape 2"/>
          <p:cNvSpPr/>
          <p:nvPr/>
        </p:nvSpPr>
        <p:spPr>
          <a:xfrm>
            <a:off x="822960" y="4160520"/>
            <a:ext cx="1463040" cy="41148"/>
          </a:xfrm>
          <a:prstGeom prst="rect">
            <a:avLst/>
          </a:prstGeom>
          <a:solidFill>
            <a:srgbClr val="0072B2"/>
          </a:solidFill>
          <a:ln/>
        </p:spPr>
      </p:sp>
      <p:sp>
        <p:nvSpPr>
          <p:cNvPr id="5" name="Text 3"/>
          <p:cNvSpPr/>
          <p:nvPr/>
        </p:nvSpPr>
        <p:spPr>
          <a:xfrm>
            <a:off x="822960" y="4480560"/>
            <a:ext cx="10515600" cy="320040"/>
          </a:xfrm>
          <a:prstGeom prst="rect">
            <a:avLst/>
          </a:prstGeom>
          <a:noFill/>
          <a:ln/>
        </p:spPr>
        <p:txBody>
          <a:bodyPr wrap="square" lIns="0" tIns="0" rIns="0" bIns="0" rtlCol="0" anchor="ctr"/>
          <a:lstStyle/>
          <a:p>
            <a:pPr indent="0" marL="0">
              <a:buNone/>
            </a:pPr>
            <a:r>
              <a:rPr lang="en-US" sz="1400" dirty="0">
                <a:solidFill>
                  <a:srgbClr val="E4E4E4"/>
                </a:solidFill>
                <a:latin typeface="Calibri" pitchFamily="34" charset="0"/>
                <a:ea typeface="Calibri" pitchFamily="34" charset="-122"/>
                <a:cs typeface="Calibri" pitchFamily="34" charset="-120"/>
              </a:rPr>
              <a:t>Le Huu Hoang  ·  Independent research  ·  August 2026</a:t>
            </a:r>
            <a:endParaRPr lang="en-US" sz="1400" dirty="0"/>
          </a:p>
        </p:txBody>
      </p:sp>
      <p:sp>
        <p:nvSpPr>
          <p:cNvPr id="6" name="Text 4"/>
          <p:cNvSpPr/>
          <p:nvPr/>
        </p:nvSpPr>
        <p:spPr>
          <a:xfrm>
            <a:off x="822960" y="4828032"/>
            <a:ext cx="10515600" cy="320040"/>
          </a:xfrm>
          <a:prstGeom prst="rect">
            <a:avLst/>
          </a:prstGeom>
          <a:noFill/>
          <a:ln/>
        </p:spPr>
        <p:txBody>
          <a:bodyPr wrap="square" lIns="0" tIns="0" rIns="0" bIns="0" rtlCol="0" anchor="ctr"/>
          <a:lstStyle/>
          <a:p>
            <a:pPr indent="0" marL="0">
              <a:buNone/>
            </a:pPr>
            <a:r>
              <a:rPr lang="en-US" sz="1150" dirty="0">
                <a:solidFill>
                  <a:srgbClr val="9A9A9A"/>
                </a:solidFill>
                <a:latin typeface="Calibri" pitchFamily="34" charset="0"/>
                <a:ea typeface="Calibri" pitchFamily="34" charset="-122"/>
                <a:cs typeface="Calibri" pitchFamily="34" charset="-120"/>
              </a:rPr>
              <a:t>lehuuhoang1909@gmail.com  ·  sellerflow-production.up.railway.app  ·  github.com/hoangle0919/sellerflow</a:t>
            </a:r>
            <a:endParaRPr lang="en-US" sz="1150" dirty="0"/>
          </a:p>
        </p:txBody>
      </p:sp>
      <p:sp>
        <p:nvSpPr>
          <p:cNvPr id="7" name="Text 5"/>
          <p:cNvSpPr/>
          <p:nvPr/>
        </p:nvSpPr>
        <p:spPr>
          <a:xfrm>
            <a:off x="822960" y="5257800"/>
            <a:ext cx="10515600" cy="731520"/>
          </a:xfrm>
          <a:prstGeom prst="rect">
            <a:avLst/>
          </a:prstGeom>
          <a:noFill/>
          <a:ln/>
        </p:spPr>
        <p:txBody>
          <a:bodyPr wrap="square" lIns="0" tIns="0" rIns="0" bIns="0" rtlCol="0" anchor="ctr"/>
          <a:lstStyle/>
          <a:p>
            <a:pPr indent="0" marL="0">
              <a:lnSpc>
                <a:spcPts val="2000"/>
              </a:lnSpc>
              <a:buNone/>
            </a:pPr>
            <a:r>
              <a:rPr lang="en-US" sz="1300" dirty="0">
                <a:solidFill>
                  <a:srgbClr val="9A9A9A"/>
                </a:solidFill>
                <a:latin typeface="Calibri" pitchFamily="34" charset="0"/>
                <a:ea typeface="Calibri" pitchFamily="34" charset="-122"/>
                <a:cs typeface="Calibri" pitchFamily="34" charset="-120"/>
              </a:rPr>
              <a:t>Simulated financing magnitudes are simulation output under modelled assumptions.</a:t>
            </a:r>
            <a:endParaRPr lang="en-US" sz="1300" dirty="0"/>
          </a:p>
          <a:p>
            <a:pPr indent="0" marL="0">
              <a:lnSpc>
                <a:spcPts val="2000"/>
              </a:lnSpc>
              <a:buNone/>
            </a:pPr>
            <a:r>
              <a:rPr lang="en-US" sz="1300" dirty="0">
                <a:solidFill>
                  <a:srgbClr val="9A9A9A"/>
                </a:solidFill>
                <a:latin typeface="Calibri" pitchFamily="34" charset="0"/>
                <a:ea typeface="Calibri" pitchFamily="34" charset="-122"/>
                <a:cs typeface="Calibri" pitchFamily="34" charset="-120"/>
              </a:rPr>
              <a:t>No observed seller revenue, repayment or default outcome exists in this study.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One mechanism, seen from two sides</a:t>
            </a:r>
            <a:endParaRPr lang="en-US" sz="3200" dirty="0"/>
          </a:p>
        </p:txBody>
      </p:sp>
      <p:sp>
        <p:nvSpPr>
          <p:cNvPr id="3" name="Shape 1"/>
          <p:cNvSpPr/>
          <p:nvPr/>
        </p:nvSpPr>
        <p:spPr>
          <a:xfrm>
            <a:off x="640080" y="1645920"/>
            <a:ext cx="5120640" cy="2514600"/>
          </a:xfrm>
          <a:prstGeom prst="roundRect">
            <a:avLst>
              <a:gd name="adj" fmla="val 2909"/>
            </a:avLst>
          </a:prstGeom>
          <a:solidFill>
            <a:srgbClr val="FAFAFA"/>
          </a:solidFill>
          <a:ln w="12700">
            <a:solidFill>
              <a:srgbClr val="D8D8D8"/>
            </a:solidFill>
            <a:prstDash val="solid"/>
          </a:ln>
        </p:spPr>
      </p:sp>
      <p:sp>
        <p:nvSpPr>
          <p:cNvPr id="4" name="Shape 2"/>
          <p:cNvSpPr/>
          <p:nvPr/>
        </p:nvSpPr>
        <p:spPr>
          <a:xfrm>
            <a:off x="1051560" y="1920240"/>
            <a:ext cx="457200" cy="457200"/>
          </a:xfrm>
          <a:prstGeom prst="ellipse">
            <a:avLst/>
          </a:prstGeom>
          <a:solidFill>
            <a:srgbClr val="0072B2"/>
          </a:solidFill>
          <a:ln/>
        </p:spPr>
      </p:sp>
      <p:sp>
        <p:nvSpPr>
          <p:cNvPr id="5" name="Text 3"/>
          <p:cNvSpPr/>
          <p:nvPr/>
        </p:nvSpPr>
        <p:spPr>
          <a:xfrm>
            <a:off x="1664208" y="1956816"/>
            <a:ext cx="3840480" cy="384048"/>
          </a:xfrm>
          <a:prstGeom prst="rect">
            <a:avLst/>
          </a:prstGeom>
          <a:noFill/>
          <a:ln/>
        </p:spPr>
        <p:txBody>
          <a:bodyPr wrap="square" lIns="0" tIns="0" rIns="0" bIns="0" rtlCol="0" anchor="ctr"/>
          <a:lstStyle/>
          <a:p>
            <a:pPr indent="0" marL="0">
              <a:buNone/>
            </a:pPr>
            <a:r>
              <a:rPr lang="en-US" sz="1900" b="1" dirty="0">
                <a:solidFill>
                  <a:srgbClr val="1A1A1A"/>
                </a:solidFill>
                <a:latin typeface="Cambria" pitchFamily="34" charset="0"/>
                <a:ea typeface="Cambria" pitchFamily="34" charset="-122"/>
                <a:cs typeface="Cambria" pitchFamily="34" charset="-120"/>
              </a:rPr>
              <a:t>For the seller</a:t>
            </a:r>
            <a:endParaRPr lang="en-US" sz="1900" dirty="0"/>
          </a:p>
        </p:txBody>
      </p:sp>
      <p:sp>
        <p:nvSpPr>
          <p:cNvPr id="6" name="Text 4"/>
          <p:cNvSpPr/>
          <p:nvPr/>
        </p:nvSpPr>
        <p:spPr>
          <a:xfrm>
            <a:off x="1051560" y="2487168"/>
            <a:ext cx="4389120" cy="1463040"/>
          </a:xfrm>
          <a:prstGeom prst="rect">
            <a:avLst/>
          </a:prstGeom>
          <a:noFill/>
          <a:ln/>
        </p:spPr>
        <p:txBody>
          <a:bodyPr wrap="square" lIns="0" tIns="0" rIns="0" bIns="0" rtlCol="0" anchor="ctr"/>
          <a:lstStyle/>
          <a:p>
            <a:pPr indent="0" marL="0">
              <a:lnSpc>
                <a:spcPts val="2200"/>
              </a:lnSpc>
              <a:buNone/>
            </a:pPr>
            <a:r>
              <a:rPr lang="en-US" sz="1450" dirty="0">
                <a:solidFill>
                  <a:srgbClr val="333333"/>
                </a:solidFill>
                <a:latin typeface="Calibri" pitchFamily="34" charset="0"/>
                <a:ea typeface="Calibri" pitchFamily="34" charset="-122"/>
                <a:cs typeface="Calibri" pitchFamily="34" charset="-120"/>
              </a:rPr>
              <a:t>Each payment is a fixed share of net sales, so the payment falls when sales fall. Before the cap is reached and before the final clipped payment, burden holds roughly flat — while the net-sales/GMV ratio stays fixed.</a:t>
            </a:r>
            <a:endParaRPr lang="en-US" sz="1450" dirty="0"/>
          </a:p>
        </p:txBody>
      </p:sp>
      <p:sp>
        <p:nvSpPr>
          <p:cNvPr id="7" name="Shape 5"/>
          <p:cNvSpPr/>
          <p:nvPr/>
        </p:nvSpPr>
        <p:spPr>
          <a:xfrm>
            <a:off x="6400800" y="1645920"/>
            <a:ext cx="5120640" cy="2514600"/>
          </a:xfrm>
          <a:prstGeom prst="roundRect">
            <a:avLst>
              <a:gd name="adj" fmla="val 2909"/>
            </a:avLst>
          </a:prstGeom>
          <a:solidFill>
            <a:srgbClr val="FAFAFA"/>
          </a:solidFill>
          <a:ln w="12700">
            <a:solidFill>
              <a:srgbClr val="D8D8D8"/>
            </a:solidFill>
            <a:prstDash val="solid"/>
          </a:ln>
        </p:spPr>
      </p:sp>
      <p:sp>
        <p:nvSpPr>
          <p:cNvPr id="8" name="Shape 6"/>
          <p:cNvSpPr/>
          <p:nvPr/>
        </p:nvSpPr>
        <p:spPr>
          <a:xfrm>
            <a:off x="6812280" y="1920240"/>
            <a:ext cx="457200" cy="457200"/>
          </a:xfrm>
          <a:prstGeom prst="ellipse">
            <a:avLst/>
          </a:prstGeom>
          <a:solidFill>
            <a:srgbClr val="D55E00"/>
          </a:solidFill>
          <a:ln/>
        </p:spPr>
      </p:sp>
      <p:sp>
        <p:nvSpPr>
          <p:cNvPr id="9" name="Text 7"/>
          <p:cNvSpPr/>
          <p:nvPr/>
        </p:nvSpPr>
        <p:spPr>
          <a:xfrm>
            <a:off x="7424928" y="1956816"/>
            <a:ext cx="3840480" cy="384048"/>
          </a:xfrm>
          <a:prstGeom prst="rect">
            <a:avLst/>
          </a:prstGeom>
          <a:noFill/>
          <a:ln/>
        </p:spPr>
        <p:txBody>
          <a:bodyPr wrap="square" lIns="0" tIns="0" rIns="0" bIns="0" rtlCol="0" anchor="ctr"/>
          <a:lstStyle/>
          <a:p>
            <a:pPr indent="0" marL="0">
              <a:buNone/>
            </a:pPr>
            <a:r>
              <a:rPr lang="en-US" sz="1900" b="1" dirty="0">
                <a:solidFill>
                  <a:srgbClr val="1A1A1A"/>
                </a:solidFill>
                <a:latin typeface="Cambria" pitchFamily="34" charset="0"/>
                <a:ea typeface="Cambria" pitchFamily="34" charset="-122"/>
                <a:cs typeface="Cambria" pitchFamily="34" charset="-120"/>
              </a:rPr>
              <a:t>For the financier</a:t>
            </a:r>
            <a:endParaRPr lang="en-US" sz="1900" dirty="0"/>
          </a:p>
        </p:txBody>
      </p:sp>
      <p:sp>
        <p:nvSpPr>
          <p:cNvPr id="10" name="Text 8"/>
          <p:cNvSpPr/>
          <p:nvPr/>
        </p:nvSpPr>
        <p:spPr>
          <a:xfrm>
            <a:off x="6812280" y="2487168"/>
            <a:ext cx="4389120" cy="1463040"/>
          </a:xfrm>
          <a:prstGeom prst="rect">
            <a:avLst/>
          </a:prstGeom>
          <a:noFill/>
          <a:ln/>
        </p:spPr>
        <p:txBody>
          <a:bodyPr wrap="square" lIns="0" tIns="0" rIns="0" bIns="0" rtlCol="0" anchor="ctr"/>
          <a:lstStyle/>
          <a:p>
            <a:pPr indent="0" marL="0">
              <a:lnSpc>
                <a:spcPts val="2200"/>
              </a:lnSpc>
              <a:buNone/>
            </a:pPr>
            <a:r>
              <a:rPr lang="en-US" sz="1450" dirty="0">
                <a:solidFill>
                  <a:srgbClr val="333333"/>
                </a:solidFill>
                <a:latin typeface="Calibri" pitchFamily="34" charset="0"/>
                <a:ea typeface="Calibri" pitchFamily="34" charset="-122"/>
                <a:cs typeface="Calibri" pitchFamily="34" charset="-120"/>
              </a:rPr>
              <a:t>The same mechanism moves recovery — it may lead or lag a cost-matched fixed schedule depending on the realised path (P4). In the severe downturn it lags. Where revenue permanently stops before completion while a contractual balance remains, no further payment occurs and the balance remains unrecovered.</a:t>
            </a:r>
            <a:endParaRPr lang="en-US" sz="1450" dirty="0"/>
          </a:p>
        </p:txBody>
      </p:sp>
      <p:sp>
        <p:nvSpPr>
          <p:cNvPr id="11" name="Text 9"/>
          <p:cNvSpPr/>
          <p:nvPr/>
        </p:nvSpPr>
        <p:spPr>
          <a:xfrm>
            <a:off x="640080" y="4343400"/>
            <a:ext cx="10881360" cy="457200"/>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Reporting either side alone misstates the contract. This paper reports both, always.</a:t>
            </a:r>
            <a:endParaRPr lang="en-US" sz="1700" dirty="0"/>
          </a:p>
        </p:txBody>
      </p:sp>
      <p:sp>
        <p:nvSpPr>
          <p:cNvPr id="12" name="Text 10"/>
          <p:cNvSpPr/>
          <p:nvPr/>
        </p:nvSpPr>
        <p:spPr>
          <a:xfrm>
            <a:off x="640080" y="4846320"/>
            <a:ext cx="10881360" cy="640080"/>
          </a:xfrm>
          <a:prstGeom prst="rect">
            <a:avLst/>
          </a:prstGeom>
          <a:noFill/>
          <a:ln/>
        </p:spPr>
        <p:txBody>
          <a:bodyPr wrap="square" lIns="0" tIns="0" rIns="0" bIns="0" rtlCol="0" anchor="ctr"/>
          <a:lstStyle/>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Contractual burden on net sales is flat by definition (P1). The burden shown throughout this deck uses payment ÷ GMV, so it equals r·(1 − return rate) and moves when the return rate moves — as in the returns_spike scenario.</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Why a simulation, and what it costs</a:t>
            </a:r>
            <a:endParaRPr lang="en-US" sz="3200" dirty="0"/>
          </a:p>
        </p:txBody>
      </p:sp>
      <p:sp>
        <p:nvSpPr>
          <p:cNvPr id="3" name="Text 1"/>
          <p:cNvSpPr/>
          <p:nvPr/>
        </p:nvSpPr>
        <p:spPr>
          <a:xfrm>
            <a:off x="640080" y="1600200"/>
            <a:ext cx="6675120" cy="1234440"/>
          </a:xfrm>
          <a:prstGeom prst="rect">
            <a:avLst/>
          </a:prstGeom>
          <a:noFill/>
          <a:ln/>
        </p:spPr>
        <p:txBody>
          <a:bodyPr wrap="square" lIns="0" tIns="0" rIns="0" bIns="0" rtlCol="0" anchor="ctr"/>
          <a:lstStyle/>
          <a:p>
            <a:pPr indent="0" marL="0">
              <a:lnSpc>
                <a:spcPts val="2200"/>
              </a:lnSpc>
              <a:buNone/>
            </a:pPr>
            <a:r>
              <a:rPr lang="en-US" sz="1500" b="1" dirty="0">
                <a:solidFill>
                  <a:srgbClr val="333333"/>
                </a:solidFill>
                <a:latin typeface="Calibri" pitchFamily="34" charset="0"/>
                <a:ea typeface="Calibri" pitchFamily="34" charset="-122"/>
                <a:cs typeface="Calibri" pitchFamily="34" charset="-120"/>
              </a:rPr>
              <a:t>The question needs a counterfactual that does not exist.</a:t>
            </a:r>
            <a:endParaRPr lang="en-US" sz="1500" dirty="0"/>
          </a:p>
          <a:p>
            <a:pPr indent="0" marL="0">
              <a:lnSpc>
                <a:spcPts val="2200"/>
              </a:lnSpc>
              <a:buNone/>
            </a:pPr>
            <a:r>
              <a:rPr lang="en-US" sz="1500" dirty="0">
                <a:solidFill>
                  <a:srgbClr val="333333"/>
                </a:solidFill>
                <a:latin typeface="Calibri" pitchFamily="34" charset="0"/>
                <a:ea typeface="Calibri" pitchFamily="34" charset="-122"/>
                <a:cs typeface="Calibri" pitchFamily="34" charset="-120"/>
              </a:rPr>
              <a:t>Comparing seller burden and provider recovery under two contracts requires observing both contracts on the same seller, over the same realised revenue. Each seller takes at most one contract.</a:t>
            </a:r>
            <a:endParaRPr lang="en-US" sz="1500" dirty="0"/>
          </a:p>
        </p:txBody>
      </p:sp>
      <p:sp>
        <p:nvSpPr>
          <p:cNvPr id="4" name="Text 2"/>
          <p:cNvSpPr/>
          <p:nvPr/>
        </p:nvSpPr>
        <p:spPr>
          <a:xfrm>
            <a:off x="640080" y="2926080"/>
            <a:ext cx="6675120" cy="2560320"/>
          </a:xfrm>
          <a:prstGeom prst="rect">
            <a:avLst/>
          </a:prstGeom>
          <a:noFill/>
          <a:ln/>
        </p:spPr>
        <p:txBody>
          <a:bodyPr wrap="square" lIns="0" tIns="0" rIns="0" bIns="0" rtlCol="0" anchor="ctr"/>
          <a:lstStyle/>
          <a:p>
            <a:pPr marL="342900" indent="-342900">
              <a:spcAft>
                <a:spcPts val="800"/>
              </a:spcAft>
              <a:buSzPct val="100000"/>
              <a:buChar char="•"/>
            </a:pPr>
            <a:r>
              <a:rPr lang="en-US" sz="1400" b="1" dirty="0">
                <a:solidFill>
                  <a:srgbClr val="333333"/>
                </a:solidFill>
                <a:latin typeface="Calibri" pitchFamily="34" charset="0"/>
                <a:ea typeface="Calibri" pitchFamily="34" charset="-122"/>
                <a:cs typeface="Calibri" pitchFamily="34" charset="-120"/>
              </a:rPr>
              <a:t>A paired design supplies it by construction</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every arm runs on the identical generated path; all comparisons are within-path</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500 paths per scenario, fixed seeds, specification frozen before any outcome analysis</a:t>
            </a:r>
            <a:endParaRPr lang="en-US" sz="1400" dirty="0"/>
          </a:p>
          <a:p>
            <a:pPr marL="342900" indent="-342900">
              <a:spcAft>
                <a:spcPts val="800"/>
              </a:spcAft>
              <a:buSzPct val="100000"/>
              <a:buChar char="•"/>
            </a:pPr>
            <a:r>
              <a:rPr lang="en-US" sz="1400" dirty="0">
                <a:solidFill>
                  <a:srgbClr val="333333"/>
                </a:solidFill>
                <a:latin typeface="Calibri" pitchFamily="34" charset="0"/>
                <a:ea typeface="Calibri" pitchFamily="34" charset="-122"/>
                <a:cs typeface="Calibri" pitchFamily="34" charset="-120"/>
              </a:rPr>
              <a:t>the cost: the revenue process is one we specified — results describe contract mechanics, not seller behaviour</a:t>
            </a:r>
            <a:endParaRPr lang="en-US" sz="1400" dirty="0"/>
          </a:p>
        </p:txBody>
      </p:sp>
      <p:sp>
        <p:nvSpPr>
          <p:cNvPr id="5" name="Shape 3"/>
          <p:cNvSpPr/>
          <p:nvPr/>
        </p:nvSpPr>
        <p:spPr>
          <a:xfrm>
            <a:off x="7772400" y="1600200"/>
            <a:ext cx="3749040" cy="3931920"/>
          </a:xfrm>
          <a:prstGeom prst="roundRect">
            <a:avLst>
              <a:gd name="adj" fmla="val 1951"/>
            </a:avLst>
          </a:prstGeom>
          <a:solidFill>
            <a:srgbClr val="F4F4F4"/>
          </a:solidFill>
          <a:ln w="12700">
            <a:solidFill>
              <a:srgbClr val="D8D8D8"/>
            </a:solidFill>
            <a:prstDash val="solid"/>
          </a:ln>
        </p:spPr>
      </p:sp>
      <p:sp>
        <p:nvSpPr>
          <p:cNvPr id="6" name="Text 4"/>
          <p:cNvSpPr/>
          <p:nvPr/>
        </p:nvSpPr>
        <p:spPr>
          <a:xfrm>
            <a:off x="8092440" y="1828800"/>
            <a:ext cx="3108960" cy="36576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What we searched for and did not find</a:t>
            </a:r>
            <a:endParaRPr lang="en-US" sz="1400" dirty="0"/>
          </a:p>
        </p:txBody>
      </p:sp>
      <p:sp>
        <p:nvSpPr>
          <p:cNvPr id="7" name="Text 5"/>
          <p:cNvSpPr/>
          <p:nvPr/>
        </p:nvSpPr>
        <p:spPr>
          <a:xfrm>
            <a:off x="8092440" y="2286000"/>
            <a:ext cx="3108960" cy="2468880"/>
          </a:xfrm>
          <a:prstGeom prst="rect">
            <a:avLst/>
          </a:prstGeom>
          <a:noFill/>
          <a:ln/>
        </p:spPr>
        <p:txBody>
          <a:bodyPr wrap="square" lIns="0" tIns="0" rIns="0" bIns="0" rtlCol="0" anchor="ctr"/>
          <a:lstStyle/>
          <a:p>
            <a:pPr indent="0" marL="0">
              <a:lnSpc>
                <a:spcPts val="1700"/>
              </a:lnSpc>
              <a:spcAft>
                <a:spcPts val="800"/>
              </a:spcAft>
              <a:buNone/>
            </a:pPr>
            <a:r>
              <a:rPr lang="en-US" sz="1200" dirty="0">
                <a:solidFill>
                  <a:srgbClr val="333333"/>
                </a:solidFill>
                <a:latin typeface="Calibri" pitchFamily="34" charset="0"/>
                <a:ea typeface="Calibri" pitchFamily="34" charset="-122"/>
                <a:cs typeface="Calibri" pitchFamily="34" charset="-120"/>
              </a:rPr>
              <a:t>No head-to-head comparison of seller burden and provider recovery under revenue-contingent versus cost-matched fixed schedules for small-business financing.</a:t>
            </a:r>
            <a:endParaRPr lang="en-US" sz="1200" dirty="0"/>
          </a:p>
          <a:p>
            <a:pPr indent="0" marL="0">
              <a:lnSpc>
                <a:spcPts val="1700"/>
              </a:lnSpc>
              <a:spcAft>
                <a:spcPts val="800"/>
              </a:spcAft>
              <a:buNone/>
            </a:pPr>
            <a:r>
              <a:rPr lang="en-US" sz="1200" dirty="0">
                <a:solidFill>
                  <a:srgbClr val="333333"/>
                </a:solidFill>
                <a:latin typeface="Calibri" pitchFamily="34" charset="0"/>
                <a:ea typeface="Calibri" pitchFamily="34" charset="-122"/>
                <a:cs typeface="Calibri" pitchFamily="34" charset="-120"/>
              </a:rPr>
              <a:t>No peer-reviewed study of the US merchant cash advance market.</a:t>
            </a:r>
            <a:endParaRPr lang="en-US" sz="1200" dirty="0"/>
          </a:p>
        </p:txBody>
      </p:sp>
      <p:sp>
        <p:nvSpPr>
          <p:cNvPr id="8" name="Text 6"/>
          <p:cNvSpPr/>
          <p:nvPr/>
        </p:nvSpPr>
        <p:spPr>
          <a:xfrm>
            <a:off x="8092440" y="4892040"/>
            <a:ext cx="3108960" cy="548640"/>
          </a:xfrm>
          <a:prstGeom prst="rect">
            <a:avLst/>
          </a:prstGeom>
          <a:noFill/>
          <a:ln/>
        </p:spPr>
        <p:txBody>
          <a:bodyPr wrap="square" lIns="0" tIns="0" rIns="0" bIns="0"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Scoped to searches documented through 2026-08-13 — a statement about our searches, not about the field.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Three arms on identical paths — one matched pair</a:t>
            </a:r>
            <a:endParaRPr lang="en-US" sz="3200" dirty="0"/>
          </a:p>
        </p:txBody>
      </p:sp>
      <p:sp>
        <p:nvSpPr>
          <p:cNvPr id="3" name="Shape 1"/>
          <p:cNvSpPr/>
          <p:nvPr/>
        </p:nvSpPr>
        <p:spPr>
          <a:xfrm>
            <a:off x="640080" y="1691640"/>
            <a:ext cx="3383280" cy="3017520"/>
          </a:xfrm>
          <a:prstGeom prst="roundRect">
            <a:avLst>
              <a:gd name="adj" fmla="val 2424"/>
            </a:avLst>
          </a:prstGeom>
          <a:solidFill>
            <a:srgbClr val="FAFAFA"/>
          </a:solidFill>
          <a:ln w="12700">
            <a:solidFill>
              <a:srgbClr val="D8D8D8"/>
            </a:solidFill>
            <a:prstDash val="solid"/>
          </a:ln>
        </p:spPr>
      </p:sp>
      <p:sp>
        <p:nvSpPr>
          <p:cNvPr id="4" name="Shape 2"/>
          <p:cNvSpPr/>
          <p:nvPr/>
        </p:nvSpPr>
        <p:spPr>
          <a:xfrm>
            <a:off x="932688" y="1938528"/>
            <a:ext cx="365760" cy="365760"/>
          </a:xfrm>
          <a:prstGeom prst="ellipse">
            <a:avLst/>
          </a:prstGeom>
          <a:solidFill>
            <a:srgbClr val="0072B2"/>
          </a:solidFill>
          <a:ln/>
        </p:spPr>
      </p:sp>
      <p:sp>
        <p:nvSpPr>
          <p:cNvPr id="5" name="Text 3"/>
          <p:cNvSpPr/>
          <p:nvPr/>
        </p:nvSpPr>
        <p:spPr>
          <a:xfrm>
            <a:off x="1444752" y="1947672"/>
            <a:ext cx="2377440" cy="347472"/>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Revenue-contingent</a:t>
            </a:r>
            <a:endParaRPr lang="en-US" sz="1600" dirty="0"/>
          </a:p>
        </p:txBody>
      </p:sp>
      <p:sp>
        <p:nvSpPr>
          <p:cNvPr id="6" name="Text 4"/>
          <p:cNvSpPr/>
          <p:nvPr/>
        </p:nvSpPr>
        <p:spPr>
          <a:xfrm>
            <a:off x="932688" y="2450592"/>
            <a:ext cx="2798064" cy="1051560"/>
          </a:xfrm>
          <a:prstGeom prst="rect">
            <a:avLst/>
          </a:prstGeom>
          <a:noFill/>
          <a:ln/>
        </p:spPr>
        <p:txBody>
          <a:bodyPr wrap="square" lIns="0" tIns="0" rIns="0" bIns="0" rtlCol="0" anchor="ctr"/>
          <a:lstStyle/>
          <a:p>
            <a:pPr indent="0" marL="0">
              <a:lnSpc>
                <a:spcPts val="1900"/>
              </a:lnSpc>
              <a:buNone/>
            </a:pPr>
            <a:r>
              <a:rPr lang="en-US" sz="1300" dirty="0">
                <a:solidFill>
                  <a:srgbClr val="333333"/>
                </a:solidFill>
                <a:latin typeface="Calibri" pitchFamily="34" charset="0"/>
                <a:ea typeface="Calibri" pitchFamily="34" charset="-122"/>
                <a:cs typeface="Calibri" pitchFamily="34" charset="-120"/>
              </a:rPr>
              <a:t>Pays r × revenue each month until a cap of A × f is reached.</a:t>
            </a:r>
            <a:endParaRPr lang="en-US" sz="1300" dirty="0"/>
          </a:p>
        </p:txBody>
      </p:sp>
      <p:sp>
        <p:nvSpPr>
          <p:cNvPr id="7" name="Text 5"/>
          <p:cNvSpPr/>
          <p:nvPr/>
        </p:nvSpPr>
        <p:spPr>
          <a:xfrm>
            <a:off x="932688" y="3584448"/>
            <a:ext cx="2798064" cy="914400"/>
          </a:xfrm>
          <a:prstGeom prst="rect">
            <a:avLst/>
          </a:prstGeom>
          <a:noFill/>
          <a:ln/>
        </p:spPr>
        <p:txBody>
          <a:bodyPr wrap="square" lIns="0" tIns="0" rIns="0" bIns="0" rtlCol="0" anchor="ctr"/>
          <a:lstStyle/>
          <a:p>
            <a:pPr indent="0" marL="0">
              <a:lnSpc>
                <a:spcPts val="1600"/>
              </a:lnSpc>
              <a:buNone/>
            </a:pPr>
            <a:r>
              <a:rPr lang="en-US" sz="1100" i="1" dirty="0">
                <a:solidFill>
                  <a:srgbClr val="6B6B6B"/>
                </a:solidFill>
                <a:latin typeface="Calibri" pitchFamily="34" charset="0"/>
                <a:ea typeface="Calibri" pitchFamily="34" charset="-122"/>
                <a:cs typeface="Calibri" pitchFamily="34" charset="-120"/>
              </a:rPr>
              <a:t>Cap factor f is the price. r = 0.10.</a:t>
            </a:r>
            <a:endParaRPr lang="en-US" sz="1100" dirty="0"/>
          </a:p>
        </p:txBody>
      </p:sp>
      <p:sp>
        <p:nvSpPr>
          <p:cNvPr id="8" name="Shape 6"/>
          <p:cNvSpPr/>
          <p:nvPr/>
        </p:nvSpPr>
        <p:spPr>
          <a:xfrm>
            <a:off x="4389120" y="1691640"/>
            <a:ext cx="3383280" cy="3017520"/>
          </a:xfrm>
          <a:prstGeom prst="roundRect">
            <a:avLst>
              <a:gd name="adj" fmla="val 2424"/>
            </a:avLst>
          </a:prstGeom>
          <a:solidFill>
            <a:srgbClr val="FAFAFA"/>
          </a:solidFill>
          <a:ln w="12700">
            <a:solidFill>
              <a:srgbClr val="D8D8D8"/>
            </a:solidFill>
            <a:prstDash val="solid"/>
          </a:ln>
        </p:spPr>
      </p:sp>
      <p:sp>
        <p:nvSpPr>
          <p:cNvPr id="9" name="Shape 7"/>
          <p:cNvSpPr/>
          <p:nvPr/>
        </p:nvSpPr>
        <p:spPr>
          <a:xfrm>
            <a:off x="4681728" y="1938528"/>
            <a:ext cx="365760" cy="365760"/>
          </a:xfrm>
          <a:prstGeom prst="ellipse">
            <a:avLst/>
          </a:prstGeom>
          <a:solidFill>
            <a:srgbClr val="E69F00"/>
          </a:solidFill>
          <a:ln/>
        </p:spPr>
      </p:sp>
      <p:sp>
        <p:nvSpPr>
          <p:cNvPr id="10" name="Text 8"/>
          <p:cNvSpPr/>
          <p:nvPr/>
        </p:nvSpPr>
        <p:spPr>
          <a:xfrm>
            <a:off x="5193792" y="1947672"/>
            <a:ext cx="2377440" cy="347472"/>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Matched fixed</a:t>
            </a:r>
            <a:endParaRPr lang="en-US" sz="1600" dirty="0"/>
          </a:p>
        </p:txBody>
      </p:sp>
      <p:sp>
        <p:nvSpPr>
          <p:cNvPr id="11" name="Text 9"/>
          <p:cNvSpPr/>
          <p:nvPr/>
        </p:nvSpPr>
        <p:spPr>
          <a:xfrm>
            <a:off x="4681728" y="2450592"/>
            <a:ext cx="2798064" cy="1051560"/>
          </a:xfrm>
          <a:prstGeom prst="rect">
            <a:avLst/>
          </a:prstGeom>
          <a:noFill/>
          <a:ln/>
        </p:spPr>
        <p:txBody>
          <a:bodyPr wrap="square" lIns="0" tIns="0" rIns="0" bIns="0" rtlCol="0" anchor="ctr"/>
          <a:lstStyle/>
          <a:p>
            <a:pPr indent="0" marL="0">
              <a:lnSpc>
                <a:spcPts val="1900"/>
              </a:lnSpc>
              <a:buNone/>
            </a:pPr>
            <a:r>
              <a:rPr lang="en-US" sz="1300" dirty="0">
                <a:solidFill>
                  <a:srgbClr val="333333"/>
                </a:solidFill>
                <a:latin typeface="Calibri" pitchFamily="34" charset="0"/>
                <a:ea typeface="Calibri" pitchFamily="34" charset="-122"/>
                <a:cs typeface="Calibri" pitchFamily="34" charset="-120"/>
              </a:rPr>
              <a:t>Fixed instalment. Same principal, same total, same term on the reference path.</a:t>
            </a:r>
            <a:endParaRPr lang="en-US" sz="1300" dirty="0"/>
          </a:p>
        </p:txBody>
      </p:sp>
      <p:sp>
        <p:nvSpPr>
          <p:cNvPr id="12" name="Text 10"/>
          <p:cNvSpPr/>
          <p:nvPr/>
        </p:nvSpPr>
        <p:spPr>
          <a:xfrm>
            <a:off x="4681728" y="3584448"/>
            <a:ext cx="2798064" cy="914400"/>
          </a:xfrm>
          <a:prstGeom prst="rect">
            <a:avLst/>
          </a:prstGeom>
          <a:noFill/>
          <a:ln/>
        </p:spPr>
        <p:txBody>
          <a:bodyPr wrap="square" lIns="0" tIns="0" rIns="0" bIns="0" rtlCol="0" anchor="ctr"/>
          <a:lstStyle/>
          <a:p>
            <a:pPr indent="0" marL="0">
              <a:lnSpc>
                <a:spcPts val="1600"/>
              </a:lnSpc>
              <a:buNone/>
            </a:pPr>
            <a:r>
              <a:rPr lang="en-US" sz="1100" i="1" dirty="0">
                <a:solidFill>
                  <a:srgbClr val="6B6B6B"/>
                </a:solidFill>
                <a:latin typeface="Calibri" pitchFamily="34" charset="0"/>
                <a:ea typeface="Calibri" pitchFamily="34" charset="-122"/>
                <a:cs typeface="Calibri" pitchFamily="34" charset="-120"/>
              </a:rPr>
              <a:t>Only the timing of payments differs. This is the primary comparison.</a:t>
            </a:r>
            <a:endParaRPr lang="en-US" sz="1100" dirty="0"/>
          </a:p>
        </p:txBody>
      </p:sp>
      <p:sp>
        <p:nvSpPr>
          <p:cNvPr id="13" name="Shape 11"/>
          <p:cNvSpPr/>
          <p:nvPr/>
        </p:nvSpPr>
        <p:spPr>
          <a:xfrm>
            <a:off x="8138160" y="1691640"/>
            <a:ext cx="3383280" cy="3017520"/>
          </a:xfrm>
          <a:prstGeom prst="roundRect">
            <a:avLst>
              <a:gd name="adj" fmla="val 2424"/>
            </a:avLst>
          </a:prstGeom>
          <a:solidFill>
            <a:srgbClr val="FAFAFA"/>
          </a:solidFill>
          <a:ln w="12700">
            <a:solidFill>
              <a:srgbClr val="D8D8D8"/>
            </a:solidFill>
            <a:prstDash val="solid"/>
          </a:ln>
        </p:spPr>
      </p:sp>
      <p:sp>
        <p:nvSpPr>
          <p:cNvPr id="14" name="Shape 12"/>
          <p:cNvSpPr/>
          <p:nvPr/>
        </p:nvSpPr>
        <p:spPr>
          <a:xfrm>
            <a:off x="8430768" y="1938528"/>
            <a:ext cx="365760" cy="365760"/>
          </a:xfrm>
          <a:prstGeom prst="ellipse">
            <a:avLst/>
          </a:prstGeom>
          <a:solidFill>
            <a:srgbClr val="009E73"/>
          </a:solidFill>
          <a:ln/>
        </p:spPr>
      </p:sp>
      <p:sp>
        <p:nvSpPr>
          <p:cNvPr id="15" name="Text 13"/>
          <p:cNvSpPr/>
          <p:nvPr/>
        </p:nvSpPr>
        <p:spPr>
          <a:xfrm>
            <a:off x="8942832" y="1947672"/>
            <a:ext cx="2377440" cy="347472"/>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Illustrative reference</a:t>
            </a:r>
            <a:endParaRPr lang="en-US" sz="1600" dirty="0"/>
          </a:p>
        </p:txBody>
      </p:sp>
      <p:sp>
        <p:nvSpPr>
          <p:cNvPr id="16" name="Text 14"/>
          <p:cNvSpPr/>
          <p:nvPr/>
        </p:nvSpPr>
        <p:spPr>
          <a:xfrm>
            <a:off x="8430768" y="2450592"/>
            <a:ext cx="2798064" cy="1051560"/>
          </a:xfrm>
          <a:prstGeom prst="rect">
            <a:avLst/>
          </a:prstGeom>
          <a:noFill/>
          <a:ln/>
        </p:spPr>
        <p:txBody>
          <a:bodyPr wrap="square" lIns="0" tIns="0" rIns="0" bIns="0" rtlCol="0" anchor="ctr"/>
          <a:lstStyle/>
          <a:p>
            <a:pPr indent="0" marL="0">
              <a:lnSpc>
                <a:spcPts val="1900"/>
              </a:lnSpc>
              <a:buNone/>
            </a:pPr>
            <a:r>
              <a:rPr lang="en-US" sz="1300" dirty="0">
                <a:solidFill>
                  <a:srgbClr val="333333"/>
                </a:solidFill>
                <a:latin typeface="Calibri" pitchFamily="34" charset="0"/>
                <a:ea typeface="Calibri" pitchFamily="34" charset="-122"/>
                <a:cs typeface="Calibri" pitchFamily="34" charset="-120"/>
              </a:rPr>
              <a:t>18% nominal, 12-month amortizing schedule.</a:t>
            </a:r>
            <a:endParaRPr lang="en-US" sz="1300" dirty="0"/>
          </a:p>
        </p:txBody>
      </p:sp>
      <p:sp>
        <p:nvSpPr>
          <p:cNvPr id="17" name="Text 15"/>
          <p:cNvSpPr/>
          <p:nvPr/>
        </p:nvSpPr>
        <p:spPr>
          <a:xfrm>
            <a:off x="8430768" y="3584448"/>
            <a:ext cx="2798064" cy="914400"/>
          </a:xfrm>
          <a:prstGeom prst="rect">
            <a:avLst/>
          </a:prstGeom>
          <a:noFill/>
          <a:ln/>
        </p:spPr>
        <p:txBody>
          <a:bodyPr wrap="square" lIns="0" tIns="0" rIns="0" bIns="0" rtlCol="0" anchor="ctr"/>
          <a:lstStyle/>
          <a:p>
            <a:pPr indent="0" marL="0">
              <a:lnSpc>
                <a:spcPts val="1600"/>
              </a:lnSpc>
              <a:buNone/>
            </a:pPr>
            <a:r>
              <a:rPr lang="en-US" sz="1100" i="1" dirty="0">
                <a:solidFill>
                  <a:srgbClr val="6B6B6B"/>
                </a:solidFill>
                <a:latin typeface="Calibri" pitchFamily="34" charset="0"/>
                <a:ea typeface="Calibri" pitchFamily="34" charset="-122"/>
                <a:cs typeface="Calibri" pitchFamily="34" charset="-120"/>
              </a:rPr>
              <a:t>An external price reference — NOT cost-matched. The 18% is an assumed input, not a market rate.</a:t>
            </a:r>
            <a:endParaRPr lang="en-US" sz="1100" dirty="0"/>
          </a:p>
        </p:txBody>
      </p:sp>
      <p:sp>
        <p:nvSpPr>
          <p:cNvPr id="18" name="Text 16"/>
          <p:cNvSpPr/>
          <p:nvPr/>
        </p:nvSpPr>
        <p:spPr>
          <a:xfrm>
            <a:off x="640080" y="4846320"/>
            <a:ext cx="10881360" cy="4572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All arms run on identical generated paths. Only the RBF / matched-fixed pair is cost-matched — principal, total repayment and term are equal on the reference path.</a:t>
            </a:r>
            <a:endParaRPr lang="en-US" sz="1400" dirty="0"/>
          </a:p>
        </p:txBody>
      </p:sp>
      <p:sp>
        <p:nvSpPr>
          <p:cNvPr id="19" name="Text 17"/>
          <p:cNvSpPr/>
          <p:nvPr/>
        </p:nvSpPr>
        <p:spPr>
          <a:xfrm>
            <a:off x="640080" y="5349240"/>
            <a:ext cx="10881360" cy="411480"/>
          </a:xfrm>
          <a:prstGeom prst="rect">
            <a:avLst/>
          </a:prstGeom>
          <a:noFill/>
          <a:ln/>
        </p:spPr>
        <p:txBody>
          <a:bodyPr wrap="square" lIns="0" tIns="0" rIns="0" bIns="0" rtlCol="0" anchor="ctr"/>
          <a:lstStyle/>
          <a:p>
            <a:pPr indent="0" marL="0">
              <a:buNone/>
            </a:pPr>
            <a:r>
              <a:rPr lang="en-US" sz="1250" dirty="0">
                <a:solidFill>
                  <a:srgbClr val="444444"/>
                </a:solidFill>
                <a:latin typeface="Calibri" pitchFamily="34" charset="0"/>
                <a:ea typeface="Calibri" pitchFamily="34" charset="-122"/>
                <a:cs typeface="Calibri" pitchFamily="34" charset="-120"/>
              </a:rPr>
              <a:t>At f = 1.20 the matched term is 13 months at 17,076,923 VND/month; at f* = 1.0945 it is 12 months at 16,873,542 VND/month.</a:t>
            </a:r>
            <a:endParaRPr lang="en-US" sz="1250" dirty="0"/>
          </a:p>
        </p:txBody>
      </p:sp>
      <p:sp>
        <p:nvSpPr>
          <p:cNvPr id="20" name="Text 18"/>
          <p:cNvSpPr/>
          <p:nvPr/>
        </p:nvSpPr>
        <p:spPr>
          <a:xfrm>
            <a:off x="640080" y="6263640"/>
            <a:ext cx="10881360" cy="36576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baseline_v3_canonical.json and baseline_equalcost_v2_canonical.json → /match_benchmark_a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Severe downturn: the trade-off, both halves</a:t>
            </a:r>
            <a:endParaRPr lang="en-US" sz="3200" dirty="0"/>
          </a:p>
        </p:txBody>
      </p:sp>
      <p:graphicFrame>
        <p:nvGraphicFramePr>
          <p:cNvPr id="3" name="Chart 0" descr=""/>
          <p:cNvGraphicFramePr/>
          <p:nvPr/>
        </p:nvGraphicFramePr>
        <p:xfrm>
          <a:off x="640080" y="1554480"/>
          <a:ext cx="521208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309360" y="1554480"/>
          <a:ext cx="5212080" cy="32004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p:nvPr/>
        </p:nvSpPr>
        <p:spPr>
          <a:xfrm>
            <a:off x="640080" y="4983480"/>
            <a:ext cx="10881360" cy="41148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In this scenario the burden reduction and the recovery delay are one mechanism. Mean duration extends 13 → 18.718 months. The pairing rule is general; the direction is scenario-specific.</a:t>
            </a:r>
            <a:endParaRPr lang="en-US" sz="1500" dirty="0"/>
          </a:p>
        </p:txBody>
      </p:sp>
      <p:sp>
        <p:nvSpPr>
          <p:cNvPr id="6" name="Text 2"/>
          <p:cNvSpPr/>
          <p:nvPr/>
        </p:nvSpPr>
        <p:spPr>
          <a:xfrm>
            <a:off x="640080" y="5440680"/>
            <a:ext cx="10881360" cy="640080"/>
          </a:xfrm>
          <a:prstGeom prst="rect">
            <a:avLst/>
          </a:prstGeom>
          <a:noFill/>
          <a:ln/>
        </p:spPr>
        <p:txBody>
          <a:bodyPr wrap="square" lIns="0" tIns="0" rIns="0" bIns="0" rtlCol="0" anchor="ctr"/>
          <a:lstStyle/>
          <a:p>
            <a:pPr indent="0" marL="0">
              <a:lnSpc>
                <a:spcPts val="1600"/>
              </a:lnSpc>
              <a:buNone/>
            </a:pPr>
            <a:r>
              <a:rPr lang="en-US" sz="1100" dirty="0">
                <a:solidFill>
                  <a:srgbClr val="6B6B6B"/>
                </a:solidFill>
                <a:latin typeface="Calibri" pitchFamily="34" charset="0"/>
                <a:ea typeface="Calibri" pitchFamily="34" charset="-122"/>
                <a:cs typeface="Calibri" pitchFamily="34" charset="-120"/>
              </a:rPr>
              <a:t>15% is an illustrative reporting band chosen for this study, not a validated hardship cutoff. Burden is payment ÷ GMV. The fixed arm is scheduled recovery under an assumption of full, on-time payment.</a:t>
            </a:r>
            <a:endParaRPr lang="en-US" sz="1100" dirty="0"/>
          </a:p>
        </p:txBody>
      </p:sp>
      <p:sp>
        <p:nvSpPr>
          <p:cNvPr id="7" name="Text 3"/>
          <p:cNvSpPr/>
          <p:nvPr/>
        </p:nvSpPr>
        <p:spPr>
          <a:xfrm>
            <a:off x="640080" y="6263640"/>
            <a:ext cx="10881360" cy="36576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baseline_v3_canonical.json → /scenarios/severe_downturn   ·   claim-ledger S-1, I-3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Price and payment rule are separable — and both matter</a:t>
            </a:r>
            <a:endParaRPr lang="en-US" sz="3200" dirty="0"/>
          </a:p>
        </p:txBody>
      </p:sp>
      <p:sp>
        <p:nvSpPr>
          <p:cNvPr id="3" name="Shape 1"/>
          <p:cNvSpPr/>
          <p:nvPr/>
        </p:nvSpPr>
        <p:spPr>
          <a:xfrm>
            <a:off x="640080" y="1645920"/>
            <a:ext cx="5120640" cy="2286000"/>
          </a:xfrm>
          <a:prstGeom prst="roundRect">
            <a:avLst>
              <a:gd name="adj" fmla="val 3200"/>
            </a:avLst>
          </a:prstGeom>
          <a:solidFill>
            <a:srgbClr val="FAFAFA"/>
          </a:solidFill>
          <a:ln w="12700">
            <a:solidFill>
              <a:srgbClr val="D8D8D8"/>
            </a:solidFill>
            <a:prstDash val="solid"/>
          </a:ln>
        </p:spPr>
      </p:sp>
      <p:sp>
        <p:nvSpPr>
          <p:cNvPr id="4" name="Text 2"/>
          <p:cNvSpPr/>
          <p:nvPr/>
        </p:nvSpPr>
        <p:spPr>
          <a:xfrm>
            <a:off x="1005840" y="1874520"/>
            <a:ext cx="4389120" cy="365760"/>
          </a:xfrm>
          <a:prstGeom prst="rect">
            <a:avLst/>
          </a:prstGeom>
          <a:noFill/>
          <a:ln/>
        </p:spPr>
        <p:txBody>
          <a:bodyPr wrap="square" lIns="0" tIns="0" rIns="0" bIns="0" rtlCol="0" anchor="ctr"/>
          <a:lstStyle/>
          <a:p>
            <a:pPr indent="0" marL="0">
              <a:buNone/>
            </a:pPr>
            <a:r>
              <a:rPr lang="en-US" sz="1400" b="1" dirty="0">
                <a:solidFill>
                  <a:srgbClr val="0072B2"/>
                </a:solidFill>
                <a:latin typeface="Calibri" pitchFamily="34" charset="0"/>
                <a:ea typeface="Calibri" pitchFamily="34" charset="-122"/>
                <a:cs typeface="Calibri" pitchFamily="34" charset="-120"/>
              </a:rPr>
              <a:t>ILLUSTRATIVE CAP</a:t>
            </a:r>
            <a:endParaRPr lang="en-US" sz="1400" dirty="0"/>
          </a:p>
        </p:txBody>
      </p:sp>
      <p:sp>
        <p:nvSpPr>
          <p:cNvPr id="5" name="Text 3"/>
          <p:cNvSpPr/>
          <p:nvPr/>
        </p:nvSpPr>
        <p:spPr>
          <a:xfrm>
            <a:off x="1005840" y="2286000"/>
            <a:ext cx="4389120" cy="822960"/>
          </a:xfrm>
          <a:prstGeom prst="rect">
            <a:avLst/>
          </a:prstGeom>
          <a:noFill/>
          <a:ln/>
        </p:spPr>
        <p:txBody>
          <a:bodyPr wrap="square" lIns="0" tIns="0" rIns="0" bIns="0" rtlCol="0" anchor="ctr"/>
          <a:lstStyle/>
          <a:p>
            <a:pPr indent="0" marL="0">
              <a:buNone/>
            </a:pPr>
            <a:r>
              <a:rPr lang="en-US" sz="4000" b="1" dirty="0">
                <a:solidFill>
                  <a:srgbClr val="1A1A1A"/>
                </a:solidFill>
                <a:latin typeface="Cambria" pitchFamily="34" charset="0"/>
                <a:ea typeface="Cambria" pitchFamily="34" charset="-122"/>
                <a:cs typeface="Cambria" pitchFamily="34" charset="-120"/>
              </a:rPr>
              <a:t>f = 1.20</a:t>
            </a:r>
            <a:endParaRPr lang="en-US" sz="4000" dirty="0"/>
          </a:p>
        </p:txBody>
      </p:sp>
      <p:sp>
        <p:nvSpPr>
          <p:cNvPr id="6" name="Text 4"/>
          <p:cNvSpPr/>
          <p:nvPr/>
        </p:nvSpPr>
        <p:spPr>
          <a:xfrm>
            <a:off x="1005840" y="3154680"/>
            <a:ext cx="4389120" cy="594360"/>
          </a:xfrm>
          <a:prstGeom prst="rect">
            <a:avLst/>
          </a:prstGeom>
          <a:noFill/>
          <a:ln/>
        </p:spPr>
        <p:txBody>
          <a:bodyPr wrap="square" lIns="0" tIns="0" rIns="0" bIns="0" rtlCol="0" anchor="ctr"/>
          <a:lstStyle/>
          <a:p>
            <a:pPr indent="0" marL="0">
              <a:lnSpc>
                <a:spcPts val="1700"/>
              </a:lnSpc>
              <a:buNone/>
            </a:pPr>
            <a:r>
              <a:rPr lang="en-US" sz="1200" dirty="0">
                <a:solidFill>
                  <a:srgbClr val="444444"/>
                </a:solidFill>
                <a:latin typeface="Calibri" pitchFamily="34" charset="0"/>
                <a:ea typeface="Calibri" pitchFamily="34" charset="-122"/>
                <a:cs typeface="Calibri" pitchFamily="34" charset="-120"/>
              </a:rPr>
              <a:t>Substantially more expensive than the 18% amortizing reference.</a:t>
            </a:r>
            <a:endParaRPr lang="en-US" sz="1200" dirty="0"/>
          </a:p>
        </p:txBody>
      </p:sp>
      <p:sp>
        <p:nvSpPr>
          <p:cNvPr id="7" name="Shape 5"/>
          <p:cNvSpPr/>
          <p:nvPr/>
        </p:nvSpPr>
        <p:spPr>
          <a:xfrm>
            <a:off x="6400800" y="1645920"/>
            <a:ext cx="5120640" cy="2286000"/>
          </a:xfrm>
          <a:prstGeom prst="roundRect">
            <a:avLst>
              <a:gd name="adj" fmla="val 3200"/>
            </a:avLst>
          </a:prstGeom>
          <a:solidFill>
            <a:srgbClr val="FAFAFA"/>
          </a:solidFill>
          <a:ln w="12700">
            <a:solidFill>
              <a:srgbClr val="D8D8D8"/>
            </a:solidFill>
            <a:prstDash val="solid"/>
          </a:ln>
        </p:spPr>
      </p:sp>
      <p:sp>
        <p:nvSpPr>
          <p:cNvPr id="8" name="Text 6"/>
          <p:cNvSpPr/>
          <p:nvPr/>
        </p:nvSpPr>
        <p:spPr>
          <a:xfrm>
            <a:off x="6766560" y="1874520"/>
            <a:ext cx="4389120" cy="365760"/>
          </a:xfrm>
          <a:prstGeom prst="rect">
            <a:avLst/>
          </a:prstGeom>
          <a:noFill/>
          <a:ln/>
        </p:spPr>
        <p:txBody>
          <a:bodyPr wrap="square" lIns="0" tIns="0" rIns="0" bIns="0" rtlCol="0" anchor="ctr"/>
          <a:lstStyle/>
          <a:p>
            <a:pPr indent="0" marL="0">
              <a:buNone/>
            </a:pPr>
            <a:r>
              <a:rPr lang="en-US" sz="1400" b="1" dirty="0">
                <a:solidFill>
                  <a:srgbClr val="009E73"/>
                </a:solidFill>
                <a:latin typeface="Calibri" pitchFamily="34" charset="0"/>
                <a:ea typeface="Calibri" pitchFamily="34" charset="-122"/>
                <a:cs typeface="Calibri" pitchFamily="34" charset="-120"/>
              </a:rPr>
              <a:t>NEAREST GRID MATCH</a:t>
            </a:r>
            <a:endParaRPr lang="en-US" sz="1400" dirty="0"/>
          </a:p>
        </p:txBody>
      </p:sp>
      <p:sp>
        <p:nvSpPr>
          <p:cNvPr id="9" name="Text 7"/>
          <p:cNvSpPr/>
          <p:nvPr/>
        </p:nvSpPr>
        <p:spPr>
          <a:xfrm>
            <a:off x="6766560" y="2286000"/>
            <a:ext cx="4389120" cy="822960"/>
          </a:xfrm>
          <a:prstGeom prst="rect">
            <a:avLst/>
          </a:prstGeom>
          <a:noFill/>
          <a:ln/>
        </p:spPr>
        <p:txBody>
          <a:bodyPr wrap="square" lIns="0" tIns="0" rIns="0" bIns="0" rtlCol="0" anchor="ctr"/>
          <a:lstStyle/>
          <a:p>
            <a:pPr indent="0" marL="0">
              <a:buNone/>
            </a:pPr>
            <a:r>
              <a:rPr lang="en-US" sz="4000" b="1" dirty="0">
                <a:solidFill>
                  <a:srgbClr val="1A1A1A"/>
                </a:solidFill>
                <a:latin typeface="Cambria" pitchFamily="34" charset="0"/>
                <a:ea typeface="Cambria" pitchFamily="34" charset="-122"/>
                <a:cs typeface="Cambria" pitchFamily="34" charset="-120"/>
              </a:rPr>
              <a:t>f* = 1.0945</a:t>
            </a:r>
            <a:endParaRPr lang="en-US" sz="4000" dirty="0"/>
          </a:p>
        </p:txBody>
      </p:sp>
      <p:sp>
        <p:nvSpPr>
          <p:cNvPr id="10" name="Text 8"/>
          <p:cNvSpPr/>
          <p:nvPr/>
        </p:nvSpPr>
        <p:spPr>
          <a:xfrm>
            <a:off x="6766560" y="3154680"/>
            <a:ext cx="4389120" cy="594360"/>
          </a:xfrm>
          <a:prstGeom prst="rect">
            <a:avLst/>
          </a:prstGeom>
          <a:noFill/>
          <a:ln/>
        </p:spPr>
        <p:txBody>
          <a:bodyPr wrap="square" lIns="0" tIns="0" rIns="0" bIns="0" rtlCol="0" anchor="ctr"/>
          <a:lstStyle/>
          <a:p>
            <a:pPr indent="0" marL="0">
              <a:lnSpc>
                <a:spcPts val="1700"/>
              </a:lnSpc>
              <a:buNone/>
            </a:pPr>
            <a:r>
              <a:rPr lang="en-US" sz="1200" dirty="0">
                <a:solidFill>
                  <a:srgbClr val="444444"/>
                </a:solidFill>
                <a:latin typeface="Calibri" pitchFamily="34" charset="0"/>
                <a:ea typeface="Calibri" pitchFamily="34" charset="-122"/>
                <a:cs typeface="Calibri" pitchFamily="34" charset="-120"/>
              </a:rPr>
              <a:t>19.537656% against the reference's 19.561817% — residual ≈ 0.02416pp. Not an exact match: duration is integer-valued.</a:t>
            </a:r>
            <a:endParaRPr lang="en-US" sz="1200" dirty="0"/>
          </a:p>
        </p:txBody>
      </p:sp>
      <p:sp>
        <p:nvSpPr>
          <p:cNvPr id="11" name="Text 9"/>
          <p:cNvSpPr/>
          <p:nvPr/>
        </p:nvSpPr>
        <p:spPr>
          <a:xfrm>
            <a:off x="640080" y="4160520"/>
            <a:ext cx="10881360" cy="1097280"/>
          </a:xfrm>
          <a:prstGeom prst="rect">
            <a:avLst/>
          </a:prstGeom>
          <a:noFill/>
          <a:ln/>
        </p:spPr>
        <p:txBody>
          <a:bodyPr wrap="square" lIns="0" tIns="0" rIns="0" bIns="0" rtlCol="0" anchor="ctr"/>
          <a:lstStyle/>
          <a:p>
            <a:pPr indent="0" marL="0">
              <a:lnSpc>
                <a:spcPts val="2300"/>
              </a:lnSpc>
              <a:buNone/>
            </a:pPr>
            <a:r>
              <a:rPr lang="en-US" sz="1500" b="1" dirty="0">
                <a:solidFill>
                  <a:srgbClr val="333333"/>
                </a:solidFill>
                <a:latin typeface="Calibri" pitchFamily="34" charset="0"/>
                <a:ea typeface="Calibri" pitchFamily="34" charset="-122"/>
                <a:cs typeface="Calibri" pitchFamily="34" charset="-120"/>
              </a:rPr>
              <a:t>Unchanged by price:  </a:t>
            </a:r>
            <a:pPr indent="0" marL="0">
              <a:lnSpc>
                <a:spcPts val="2300"/>
              </a:lnSpc>
              <a:buNone/>
            </a:pPr>
            <a:r>
              <a:rPr lang="en-US" sz="1500" dirty="0">
                <a:solidFill>
                  <a:srgbClr val="333333"/>
                </a:solidFill>
                <a:latin typeface="Calibri" pitchFamily="34" charset="0"/>
                <a:ea typeface="Calibri" pitchFamily="34" charset="-122"/>
                <a:cs typeface="Calibri" pitchFamily="34" charset="-120"/>
              </a:rPr>
              <a:t>the pre-cap payment rule — each payment is the same share of net sales.</a:t>
            </a:r>
            <a:endParaRPr lang="en-US" sz="1500" dirty="0"/>
          </a:p>
          <a:p>
            <a:pPr indent="0" marL="0">
              <a:lnSpc>
                <a:spcPts val="2300"/>
              </a:lnSpc>
              <a:buNone/>
            </a:pPr>
            <a:r>
              <a:rPr lang="en-US" sz="1500" b="1" dirty="0">
                <a:solidFill>
                  <a:srgbClr val="333333"/>
                </a:solidFill>
                <a:latin typeface="Calibri" pitchFamily="34" charset="0"/>
                <a:ea typeface="Calibri" pitchFamily="34" charset="-122"/>
                <a:cs typeface="Calibri" pitchFamily="34" charset="-120"/>
              </a:rPr>
              <a:t>Changed by price:  </a:t>
            </a:r>
            <a:pPr indent="0" marL="0">
              <a:lnSpc>
                <a:spcPts val="2300"/>
              </a:lnSpc>
              <a:buNone/>
            </a:pPr>
            <a:r>
              <a:rPr lang="en-US" sz="1500" dirty="0">
                <a:solidFill>
                  <a:srgbClr val="333333"/>
                </a:solidFill>
                <a:latin typeface="Calibri" pitchFamily="34" charset="0"/>
                <a:ea typeface="Calibri" pitchFamily="34" charset="-122"/>
                <a:cs typeface="Calibri" pitchFamily="34" charset="-120"/>
              </a:rPr>
              <a:t>the contractual target, and therefore completion timing, terminal clipping and the realised stream.</a:t>
            </a:r>
            <a:endParaRPr lang="en-US" sz="1500" dirty="0"/>
          </a:p>
        </p:txBody>
      </p:sp>
      <p:sp>
        <p:nvSpPr>
          <p:cNvPr id="12" name="Text 10"/>
          <p:cNvSpPr/>
          <p:nvPr/>
        </p:nvSpPr>
        <p:spPr>
          <a:xfrm>
            <a:off x="640080" y="5303520"/>
            <a:ext cx="10881360" cy="640080"/>
          </a:xfrm>
          <a:prstGeom prst="rect">
            <a:avLst/>
          </a:prstGeom>
          <a:noFill/>
          <a:ln/>
        </p:spPr>
        <p:txBody>
          <a:bodyPr wrap="square" lIns="0" tIns="0" rIns="0" bIns="0" rtlCol="0" anchor="ctr"/>
          <a:lstStyle/>
          <a:p>
            <a:pPr indent="0" marL="0">
              <a:lnSpc>
                <a:spcPts val="1800"/>
              </a:lnSpc>
              <a:buNone/>
            </a:pPr>
            <a:r>
              <a:rPr lang="en-US" sz="1300" i="1" dirty="0">
                <a:solidFill>
                  <a:srgbClr val="1A1A1A"/>
                </a:solidFill>
                <a:latin typeface="Calibri" pitchFamily="34" charset="0"/>
                <a:ea typeface="Calibri" pitchFamily="34" charset="-122"/>
                <a:cs typeface="Calibri" pitchFamily="34" charset="-120"/>
              </a:rPr>
              <a:t>Analytically separable — but they jointly determine outcomes. A cost ratio quoted at a single cap factor is a pricing result, not a property of revenue-contingent repayment.</a:t>
            </a:r>
            <a:endParaRPr lang="en-US" sz="1300" dirty="0"/>
          </a:p>
        </p:txBody>
      </p:sp>
      <p:sp>
        <p:nvSpPr>
          <p:cNvPr id="13" name="Text 11"/>
          <p:cNvSpPr/>
          <p:nvPr/>
        </p:nvSpPr>
        <p:spPr>
          <a:xfrm>
            <a:off x="640080" y="6263640"/>
            <a:ext cx="10881360" cy="36576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validation_v2_canonical.json → /pricing   ·   claim-ledger P-1, P-2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A retraction we report as part of the result</a:t>
            </a:r>
            <a:endParaRPr lang="en-US" sz="3200" dirty="0"/>
          </a:p>
        </p:txBody>
      </p:sp>
      <p:sp>
        <p:nvSpPr>
          <p:cNvPr id="3" name="Shape 1"/>
          <p:cNvSpPr/>
          <p:nvPr/>
        </p:nvSpPr>
        <p:spPr>
          <a:xfrm>
            <a:off x="640080" y="1645920"/>
            <a:ext cx="10881360" cy="1371600"/>
          </a:xfrm>
          <a:prstGeom prst="roundRect">
            <a:avLst>
              <a:gd name="adj" fmla="val 5333"/>
            </a:avLst>
          </a:prstGeom>
          <a:solidFill>
            <a:srgbClr val="FDF3EF"/>
          </a:solidFill>
          <a:ln w="19050">
            <a:solidFill>
              <a:srgbClr val="D55E00"/>
            </a:solidFill>
            <a:prstDash val="solid"/>
          </a:ln>
        </p:spPr>
      </p:sp>
      <p:sp>
        <p:nvSpPr>
          <p:cNvPr id="4" name="Text 2"/>
          <p:cNvSpPr/>
          <p:nvPr/>
        </p:nvSpPr>
        <p:spPr>
          <a:xfrm>
            <a:off x="1005840" y="1874520"/>
            <a:ext cx="10149840" cy="457200"/>
          </a:xfrm>
          <a:prstGeom prst="rect">
            <a:avLst/>
          </a:prstGeom>
          <a:noFill/>
          <a:ln/>
        </p:spPr>
        <p:txBody>
          <a:bodyPr wrap="square" lIns="0" tIns="0" rIns="0" bIns="0" rtlCol="0" anchor="ctr"/>
          <a:lstStyle/>
          <a:p>
            <a:pPr indent="0" marL="0">
              <a:buNone/>
            </a:pPr>
            <a:r>
              <a:rPr lang="en-US" sz="2000" i="1" dirty="0">
                <a:solidFill>
                  <a:srgbClr val="6B2E12"/>
                </a:solidFill>
                <a:latin typeface="Cambria" pitchFamily="34" charset="0"/>
                <a:ea typeface="Cambria" pitchFamily="34" charset="-122"/>
                <a:cs typeface="Cambria" pitchFamily="34" charset="-120"/>
              </a:rPr>
              <a:t>"RBF costs approximately 2.3× the interest of a conventional loan."</a:t>
            </a:r>
            <a:endParaRPr lang="en-US" sz="2000" dirty="0"/>
          </a:p>
        </p:txBody>
      </p:sp>
      <p:sp>
        <p:nvSpPr>
          <p:cNvPr id="5" name="Text 3"/>
          <p:cNvSpPr/>
          <p:nvPr/>
        </p:nvSpPr>
        <p:spPr>
          <a:xfrm>
            <a:off x="1005840" y="2423160"/>
            <a:ext cx="10149840" cy="365760"/>
          </a:xfrm>
          <a:prstGeom prst="rect">
            <a:avLst/>
          </a:prstGeom>
          <a:noFill/>
          <a:ln/>
        </p:spPr>
        <p:txBody>
          <a:bodyPr wrap="square" lIns="0" tIns="0" rIns="0" bIns="0" rtlCol="0" anchor="ctr"/>
          <a:lstStyle/>
          <a:p>
            <a:pPr indent="0" marL="0">
              <a:buNone/>
            </a:pPr>
            <a:r>
              <a:rPr lang="en-US" sz="1400" b="1" dirty="0">
                <a:solidFill>
                  <a:srgbClr val="D55E00"/>
                </a:solidFill>
                <a:latin typeface="Calibri" pitchFamily="34" charset="0"/>
                <a:ea typeface="Calibri" pitchFamily="34" charset="-122"/>
                <a:cs typeface="Calibri" pitchFamily="34" charset="-120"/>
              </a:rPr>
              <a:t>WITHDRAWN — and the reason is this slide deck's argument.</a:t>
            </a:r>
            <a:endParaRPr lang="en-US" sz="1400" dirty="0"/>
          </a:p>
        </p:txBody>
      </p:sp>
      <p:sp>
        <p:nvSpPr>
          <p:cNvPr id="6" name="Text 4"/>
          <p:cNvSpPr/>
          <p:nvPr/>
        </p:nvSpPr>
        <p:spPr>
          <a:xfrm>
            <a:off x="640080" y="3200400"/>
            <a:ext cx="10698480" cy="566928"/>
          </a:xfrm>
          <a:prstGeom prst="rect">
            <a:avLst/>
          </a:prstGeom>
          <a:noFill/>
          <a:ln/>
        </p:spPr>
        <p:txBody>
          <a:bodyPr wrap="square" lIns="0" tIns="0" rIns="0" bIns="0" rtlCol="0" anchor="ctr"/>
          <a:lstStyle/>
          <a:p>
            <a:pPr indent="0" marL="0">
              <a:lnSpc>
                <a:spcPts val="1900"/>
              </a:lnSpc>
              <a:buNone/>
            </a:pPr>
            <a:r>
              <a:rPr lang="en-US" sz="1450" dirty="0">
                <a:solidFill>
                  <a:srgbClr val="333333"/>
                </a:solidFill>
                <a:latin typeface="Calibri" pitchFamily="34" charset="0"/>
                <a:ea typeface="Calibri" pitchFamily="34" charset="-122"/>
                <a:cs typeface="Calibri" pitchFamily="34" charset="-120"/>
              </a:rPr>
              <a:t>•   It fixed f = 1.20 as though it were intrinsic. The contractual repayment target A × f is proportional to f — and realised repayment equals that target only when the contract completes.</a:t>
            </a:r>
            <a:endParaRPr lang="en-US" sz="1450" dirty="0"/>
          </a:p>
        </p:txBody>
      </p:sp>
      <p:sp>
        <p:nvSpPr>
          <p:cNvPr id="7" name="Text 5"/>
          <p:cNvSpPr/>
          <p:nvPr/>
        </p:nvSpPr>
        <p:spPr>
          <a:xfrm>
            <a:off x="640080" y="3767328"/>
            <a:ext cx="10698480" cy="566928"/>
          </a:xfrm>
          <a:prstGeom prst="rect">
            <a:avLst/>
          </a:prstGeom>
          <a:noFill/>
          <a:ln/>
        </p:spPr>
        <p:txBody>
          <a:bodyPr wrap="square" lIns="0" tIns="0" rIns="0" bIns="0" rtlCol="0" anchor="ctr"/>
          <a:lstStyle/>
          <a:p>
            <a:pPr indent="0" marL="0">
              <a:lnSpc>
                <a:spcPts val="1900"/>
              </a:lnSpc>
              <a:buNone/>
            </a:pPr>
            <a:r>
              <a:rPr lang="en-US" sz="1450" dirty="0">
                <a:solidFill>
                  <a:srgbClr val="333333"/>
                </a:solidFill>
                <a:latin typeface="Calibri" pitchFamily="34" charset="0"/>
                <a:ea typeface="Calibri" pitchFamily="34" charset="-122"/>
                <a:cs typeface="Calibri" pitchFamily="34" charset="-120"/>
              </a:rPr>
              <a:t>•   It quoted one effective APR as though it were a contract property — among rate-defined paths the APR is jointly determined by the price and the revenue path.</a:t>
            </a:r>
            <a:endParaRPr lang="en-US" sz="1450" dirty="0"/>
          </a:p>
        </p:txBody>
      </p:sp>
      <p:sp>
        <p:nvSpPr>
          <p:cNvPr id="8" name="Text 6"/>
          <p:cNvSpPr/>
          <p:nvPr/>
        </p:nvSpPr>
        <p:spPr>
          <a:xfrm>
            <a:off x="640080" y="4334256"/>
            <a:ext cx="10698480" cy="566928"/>
          </a:xfrm>
          <a:prstGeom prst="rect">
            <a:avLst/>
          </a:prstGeom>
          <a:noFill/>
          <a:ln/>
        </p:spPr>
        <p:txBody>
          <a:bodyPr wrap="square" lIns="0" tIns="0" rIns="0" bIns="0" rtlCol="0" anchor="ctr"/>
          <a:lstStyle/>
          <a:p>
            <a:pPr indent="0" marL="0">
              <a:lnSpc>
                <a:spcPts val="1900"/>
              </a:lnSpc>
              <a:buNone/>
            </a:pPr>
            <a:r>
              <a:rPr lang="en-US" sz="1450" dirty="0">
                <a:solidFill>
                  <a:srgbClr val="333333"/>
                </a:solidFill>
                <a:latin typeface="Calibri" pitchFamily="34" charset="0"/>
                <a:ea typeface="Calibri" pitchFamily="34" charset="-122"/>
                <a:cs typeface="Calibri" pitchFamily="34" charset="-120"/>
              </a:rPr>
              <a:t>•   It survived several earlier drafts of this project, written while actively trying to avoid exactly this error.</a:t>
            </a:r>
            <a:endParaRPr lang="en-US" sz="1450" dirty="0"/>
          </a:p>
        </p:txBody>
      </p:sp>
      <p:sp>
        <p:nvSpPr>
          <p:cNvPr id="9" name="Text 7"/>
          <p:cNvSpPr/>
          <p:nvPr/>
        </p:nvSpPr>
        <p:spPr>
          <a:xfrm>
            <a:off x="640080" y="4983480"/>
            <a:ext cx="10881360" cy="640080"/>
          </a:xfrm>
          <a:prstGeom prst="rect">
            <a:avLst/>
          </a:prstGeom>
          <a:noFill/>
          <a:ln/>
        </p:spPr>
        <p:txBody>
          <a:bodyPr wrap="square" lIns="0" tIns="0" rIns="0" bIns="0" rtlCol="0" anchor="ctr"/>
          <a:lstStyle/>
          <a:p>
            <a:pPr indent="0" marL="0">
              <a:lnSpc>
                <a:spcPts val="1900"/>
              </a:lnSpc>
              <a:buNone/>
            </a:pPr>
            <a:r>
              <a:rPr lang="en-US" sz="1400" b="1" dirty="0">
                <a:solidFill>
                  <a:srgbClr val="1A1A1A"/>
                </a:solidFill>
                <a:latin typeface="Calibri" pitchFamily="34" charset="0"/>
                <a:ea typeface="Calibri" pitchFamily="34" charset="-122"/>
                <a:cs typeface="Calibri" pitchFamily="34" charset="-120"/>
              </a:rPr>
              <a:t>We report the retraction rather than quietly correcting it, because it is the concrete instance of the conflation the paper argues against.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Where recovery actually fails</a:t>
            </a:r>
            <a:endParaRPr lang="en-US" sz="3200" dirty="0"/>
          </a:p>
        </p:txBody>
      </p:sp>
      <p:graphicFrame>
        <p:nvGraphicFramePr>
          <p:cNvPr id="3" name="Chart 0" descr=""/>
          <p:cNvGraphicFramePr/>
          <p:nvPr/>
        </p:nvGraphicFramePr>
        <p:xfrm>
          <a:off x="640080" y="1554480"/>
          <a:ext cx="10881360" cy="31089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640080" y="4846320"/>
            <a:ext cx="10881360" cy="822960"/>
          </a:xfrm>
          <a:prstGeom prst="rect">
            <a:avLst/>
          </a:prstGeom>
          <a:noFill/>
          <a:ln/>
        </p:spPr>
        <p:txBody>
          <a:bodyPr wrap="square" lIns="0" tIns="0" rIns="0" bIns="0" rtlCol="0" anchor="ctr"/>
          <a:lstStyle/>
          <a:p>
            <a:pPr indent="0" marL="0">
              <a:lnSpc>
                <a:spcPts val="2000"/>
              </a:lnSpc>
              <a:buNone/>
            </a:pPr>
            <a:r>
              <a:rPr lang="en-US" sz="1400" b="1" dirty="0">
                <a:solidFill>
                  <a:srgbClr val="333333"/>
                </a:solidFill>
                <a:latin typeface="Calibri" pitchFamily="34" charset="0"/>
                <a:ea typeface="Calibri" pitchFamily="34" charset="-122"/>
                <a:cs typeface="Calibri" pitchFamily="34" charset="-120"/>
              </a:rPr>
              <a:t>Timing decides it, not zero revenue as such. </a:t>
            </a:r>
            <a:pPr indent="0" marL="0">
              <a:lnSpc>
                <a:spcPts val="2000"/>
              </a:lnSpc>
              <a:buNone/>
            </a:pPr>
            <a:r>
              <a:rPr lang="en-US" sz="1400" dirty="0">
                <a:solidFill>
                  <a:srgbClr val="333333"/>
                </a:solidFill>
                <a:latin typeface="Calibri" pitchFamily="34" charset="0"/>
                <a:ea typeface="Calibri" pitchFamily="34" charset="-122"/>
                <a:cs typeface="Calibri" pitchFamily="34" charset="-120"/>
              </a:rPr>
              <a:t>A temporary three-month cessation leaves 2.0% of paths incomplete at f = 1.20 and none at f*. Closure from month 7 leaves every path incomplete under both cap factors.</a:t>
            </a:r>
            <a:endParaRPr lang="en-US" sz="1400" dirty="0"/>
          </a:p>
        </p:txBody>
      </p:sp>
      <p:sp>
        <p:nvSpPr>
          <p:cNvPr id="5" name="Text 2"/>
          <p:cNvSpPr/>
          <p:nvPr/>
        </p:nvSpPr>
        <p:spPr>
          <a:xfrm>
            <a:off x="640080" y="6263640"/>
            <a:ext cx="10881360" cy="36576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baseline_closure_v2 and baseline_closure_equalcost_v2 → /scenarios/*/RBF   ·   claim-ledger S-3, S-4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Incomplete recovery is not principal loss</a:t>
            </a:r>
            <a:endParaRPr lang="en-US" sz="3200" dirty="0"/>
          </a:p>
        </p:txBody>
      </p:sp>
      <p:sp>
        <p:nvSpPr>
          <p:cNvPr id="3" name="Text 1"/>
          <p:cNvSpPr/>
          <p:nvPr/>
        </p:nvSpPr>
        <p:spPr>
          <a:xfrm>
            <a:off x="640080" y="1298448"/>
            <a:ext cx="10881360" cy="274320"/>
          </a:xfrm>
          <a:prstGeom prst="rect">
            <a:avLst/>
          </a:prstGeom>
          <a:noFill/>
          <a:ln/>
        </p:spPr>
        <p:txBody>
          <a:bodyPr wrap="square" lIns="0" tIns="0" rIns="0" bIns="0" rtlCol="0" anchor="ctr"/>
          <a:lstStyle/>
          <a:p>
            <a:pPr indent="0" marL="0">
              <a:buNone/>
            </a:pPr>
            <a:r>
              <a:rPr lang="en-US" sz="1200" b="1" dirty="0">
                <a:solidFill>
                  <a:srgbClr val="D55E00"/>
                </a:solidFill>
                <a:latin typeface="Calibri" pitchFamily="34" charset="0"/>
                <a:ea typeface="Calibri" pitchFamily="34" charset="-122"/>
                <a:cs typeface="Calibri" pitchFamily="34" charset="-120"/>
              </a:rPr>
              <a:t>All figures on this slide are the illustrative cap factor f = 1.20.</a:t>
            </a:r>
            <a:endParaRPr lang="en-US" sz="1200" dirty="0"/>
          </a:p>
        </p:txBody>
      </p:sp>
      <p:sp>
        <p:nvSpPr>
          <p:cNvPr id="4" name="Text 2"/>
          <p:cNvSpPr/>
          <p:nvPr/>
        </p:nvSpPr>
        <p:spPr>
          <a:xfrm>
            <a:off x="1508760" y="1627632"/>
            <a:ext cx="265176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Scenario</a:t>
            </a:r>
            <a:endParaRPr lang="en-US" sz="1100" dirty="0"/>
          </a:p>
        </p:txBody>
      </p:sp>
      <p:sp>
        <p:nvSpPr>
          <p:cNvPr id="5" name="Text 3"/>
          <p:cNvSpPr/>
          <p:nvPr/>
        </p:nvSpPr>
        <p:spPr>
          <a:xfrm>
            <a:off x="4206240" y="1627632"/>
            <a:ext cx="219456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Not reaching target</a:t>
            </a:r>
            <a:endParaRPr lang="en-US" sz="1100" dirty="0"/>
          </a:p>
        </p:txBody>
      </p:sp>
      <p:sp>
        <p:nvSpPr>
          <p:cNvPr id="6" name="Text 4"/>
          <p:cNvSpPr/>
          <p:nvPr/>
        </p:nvSpPr>
        <p:spPr>
          <a:xfrm>
            <a:off x="6492240" y="1627632"/>
            <a:ext cx="246888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Amount recovered</a:t>
            </a:r>
            <a:endParaRPr lang="en-US" sz="1100" dirty="0"/>
          </a:p>
        </p:txBody>
      </p:sp>
      <p:sp>
        <p:nvSpPr>
          <p:cNvPr id="7" name="Text 5"/>
          <p:cNvSpPr/>
          <p:nvPr/>
        </p:nvSpPr>
        <p:spPr>
          <a:xfrm>
            <a:off x="9052560" y="1627632"/>
            <a:ext cx="228600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vs 185M advance</a:t>
            </a:r>
            <a:endParaRPr lang="en-US" sz="1100" dirty="0"/>
          </a:p>
        </p:txBody>
      </p:sp>
      <p:sp>
        <p:nvSpPr>
          <p:cNvPr id="8" name="Shape 6"/>
          <p:cNvSpPr/>
          <p:nvPr/>
        </p:nvSpPr>
        <p:spPr>
          <a:xfrm>
            <a:off x="640080" y="2084832"/>
            <a:ext cx="10881360" cy="1051560"/>
          </a:xfrm>
          <a:prstGeom prst="roundRect">
            <a:avLst>
              <a:gd name="adj" fmla="val 5217"/>
            </a:avLst>
          </a:prstGeom>
          <a:solidFill>
            <a:srgbClr val="FAFAFA"/>
          </a:solidFill>
          <a:ln w="12700">
            <a:solidFill>
              <a:srgbClr val="D8D8D8"/>
            </a:solidFill>
            <a:prstDash val="solid"/>
          </a:ln>
        </p:spPr>
      </p:sp>
      <p:sp>
        <p:nvSpPr>
          <p:cNvPr id="9" name="Shape 7"/>
          <p:cNvSpPr/>
          <p:nvPr/>
        </p:nvSpPr>
        <p:spPr>
          <a:xfrm>
            <a:off x="960120" y="2414016"/>
            <a:ext cx="365760" cy="365760"/>
          </a:xfrm>
          <a:prstGeom prst="ellipse">
            <a:avLst/>
          </a:prstGeom>
          <a:solidFill>
            <a:srgbClr val="009E73"/>
          </a:solidFill>
          <a:ln/>
        </p:spPr>
      </p:sp>
      <p:sp>
        <p:nvSpPr>
          <p:cNvPr id="10" name="Text 8"/>
          <p:cNvSpPr/>
          <p:nvPr/>
        </p:nvSpPr>
        <p:spPr>
          <a:xfrm>
            <a:off x="1508760" y="2221992"/>
            <a:ext cx="2651760" cy="777240"/>
          </a:xfrm>
          <a:prstGeom prst="rect">
            <a:avLst/>
          </a:prstGeom>
          <a:noFill/>
          <a:ln/>
        </p:spPr>
        <p:txBody>
          <a:bodyPr wrap="square" lIns="0" tIns="0" rIns="0" bIns="0" rtlCol="0" anchor="ctr"/>
          <a:lstStyle/>
          <a:p>
            <a:pPr indent="0" marL="0">
              <a:buNone/>
            </a:pPr>
            <a:r>
              <a:rPr lang="en-US" sz="1500" b="1" dirty="0">
                <a:solidFill>
                  <a:srgbClr val="1A1A1A"/>
                </a:solidFill>
                <a:latin typeface="Cambria" pitchFamily="34" charset="0"/>
                <a:ea typeface="Cambria" pitchFamily="34" charset="-122"/>
                <a:cs typeface="Cambria" pitchFamily="34" charset="-120"/>
              </a:rPr>
              <a:t>Closure, month 13</a:t>
            </a:r>
            <a:endParaRPr lang="en-US" sz="1500" dirty="0"/>
          </a:p>
        </p:txBody>
      </p:sp>
      <p:sp>
        <p:nvSpPr>
          <p:cNvPr id="11" name="Text 9"/>
          <p:cNvSpPr/>
          <p:nvPr/>
        </p:nvSpPr>
        <p:spPr>
          <a:xfrm>
            <a:off x="4206240" y="2221992"/>
            <a:ext cx="2194560" cy="77724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76.2% at f = 1.20</a:t>
            </a:r>
            <a:endParaRPr lang="en-US" sz="1400" dirty="0"/>
          </a:p>
        </p:txBody>
      </p:sp>
      <p:sp>
        <p:nvSpPr>
          <p:cNvPr id="12" name="Text 10"/>
          <p:cNvSpPr/>
          <p:nvPr/>
        </p:nvSpPr>
        <p:spPr>
          <a:xfrm>
            <a:off x="6492240" y="2221992"/>
            <a:ext cx="2468880" cy="77724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 214.3M VND at f = 1.20</a:t>
            </a:r>
            <a:endParaRPr lang="en-US" sz="1400" dirty="0"/>
          </a:p>
        </p:txBody>
      </p:sp>
      <p:sp>
        <p:nvSpPr>
          <p:cNvPr id="13" name="Text 11"/>
          <p:cNvSpPr/>
          <p:nvPr/>
        </p:nvSpPr>
        <p:spPr>
          <a:xfrm>
            <a:off x="9052560" y="2221992"/>
            <a:ext cx="2286000" cy="777240"/>
          </a:xfrm>
          <a:prstGeom prst="rect">
            <a:avLst/>
          </a:prstGeom>
          <a:noFill/>
          <a:ln/>
        </p:spPr>
        <p:txBody>
          <a:bodyPr wrap="square" lIns="0" tIns="0" rIns="0" bIns="0" rtlCol="0" anchor="ctr"/>
          <a:lstStyle/>
          <a:p>
            <a:pPr indent="0" marL="0">
              <a:buNone/>
            </a:pPr>
            <a:r>
              <a:rPr lang="en-US" sz="1300" b="1" dirty="0">
                <a:solidFill>
                  <a:srgbClr val="009E73"/>
                </a:solidFill>
                <a:latin typeface="Calibri" pitchFamily="34" charset="0"/>
                <a:ea typeface="Calibri" pitchFamily="34" charset="-122"/>
                <a:cs typeface="Calibri" pitchFamily="34" charset="-120"/>
              </a:rPr>
              <a:t>principal covered</a:t>
            </a:r>
            <a:endParaRPr lang="en-US" sz="1300" dirty="0"/>
          </a:p>
        </p:txBody>
      </p:sp>
      <p:sp>
        <p:nvSpPr>
          <p:cNvPr id="14" name="Shape 12"/>
          <p:cNvSpPr/>
          <p:nvPr/>
        </p:nvSpPr>
        <p:spPr>
          <a:xfrm>
            <a:off x="640080" y="3456432"/>
            <a:ext cx="10881360" cy="1051560"/>
          </a:xfrm>
          <a:prstGeom prst="roundRect">
            <a:avLst>
              <a:gd name="adj" fmla="val 5217"/>
            </a:avLst>
          </a:prstGeom>
          <a:solidFill>
            <a:srgbClr val="FAFAFA"/>
          </a:solidFill>
          <a:ln w="12700">
            <a:solidFill>
              <a:srgbClr val="D8D8D8"/>
            </a:solidFill>
            <a:prstDash val="solid"/>
          </a:ln>
        </p:spPr>
      </p:sp>
      <p:sp>
        <p:nvSpPr>
          <p:cNvPr id="15" name="Shape 13"/>
          <p:cNvSpPr/>
          <p:nvPr/>
        </p:nvSpPr>
        <p:spPr>
          <a:xfrm>
            <a:off x="960120" y="3785616"/>
            <a:ext cx="365760" cy="365760"/>
          </a:xfrm>
          <a:prstGeom prst="ellipse">
            <a:avLst/>
          </a:prstGeom>
          <a:solidFill>
            <a:srgbClr val="D55E00"/>
          </a:solidFill>
          <a:ln/>
        </p:spPr>
      </p:sp>
      <p:sp>
        <p:nvSpPr>
          <p:cNvPr id="16" name="Text 14"/>
          <p:cNvSpPr/>
          <p:nvPr/>
        </p:nvSpPr>
        <p:spPr>
          <a:xfrm>
            <a:off x="1508760" y="3593592"/>
            <a:ext cx="2651760" cy="777240"/>
          </a:xfrm>
          <a:prstGeom prst="rect">
            <a:avLst/>
          </a:prstGeom>
          <a:noFill/>
          <a:ln/>
        </p:spPr>
        <p:txBody>
          <a:bodyPr wrap="square" lIns="0" tIns="0" rIns="0" bIns="0" rtlCol="0" anchor="ctr"/>
          <a:lstStyle/>
          <a:p>
            <a:pPr indent="0" marL="0">
              <a:buNone/>
            </a:pPr>
            <a:r>
              <a:rPr lang="en-US" sz="1500" b="1" dirty="0">
                <a:solidFill>
                  <a:srgbClr val="1A1A1A"/>
                </a:solidFill>
                <a:latin typeface="Cambria" pitchFamily="34" charset="0"/>
                <a:ea typeface="Cambria" pitchFamily="34" charset="-122"/>
                <a:cs typeface="Cambria" pitchFamily="34" charset="-120"/>
              </a:rPr>
              <a:t>Closure, month 7</a:t>
            </a:r>
            <a:endParaRPr lang="en-US" sz="1500" dirty="0"/>
          </a:p>
        </p:txBody>
      </p:sp>
      <p:sp>
        <p:nvSpPr>
          <p:cNvPr id="17" name="Text 15"/>
          <p:cNvSpPr/>
          <p:nvPr/>
        </p:nvSpPr>
        <p:spPr>
          <a:xfrm>
            <a:off x="4206240" y="3593592"/>
            <a:ext cx="2194560" cy="77724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100% at both f</a:t>
            </a:r>
            <a:endParaRPr lang="en-US" sz="1400" dirty="0"/>
          </a:p>
        </p:txBody>
      </p:sp>
      <p:sp>
        <p:nvSpPr>
          <p:cNvPr id="18" name="Text 16"/>
          <p:cNvSpPr/>
          <p:nvPr/>
        </p:nvSpPr>
        <p:spPr>
          <a:xfrm>
            <a:off x="6492240" y="3593592"/>
            <a:ext cx="2468880" cy="77724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 98.3M VND at both f</a:t>
            </a:r>
            <a:endParaRPr lang="en-US" sz="1400" dirty="0"/>
          </a:p>
        </p:txBody>
      </p:sp>
      <p:sp>
        <p:nvSpPr>
          <p:cNvPr id="19" name="Text 17"/>
          <p:cNvSpPr/>
          <p:nvPr/>
        </p:nvSpPr>
        <p:spPr>
          <a:xfrm>
            <a:off x="9052560" y="3593592"/>
            <a:ext cx="2286000" cy="777240"/>
          </a:xfrm>
          <a:prstGeom prst="rect">
            <a:avLst/>
          </a:prstGeom>
          <a:noFill/>
          <a:ln/>
        </p:spPr>
        <p:txBody>
          <a:bodyPr wrap="square" lIns="0" tIns="0" rIns="0" bIns="0" rtlCol="0" anchor="ctr"/>
          <a:lstStyle/>
          <a:p>
            <a:pPr indent="0" marL="0">
              <a:buNone/>
            </a:pPr>
            <a:r>
              <a:rPr lang="en-US" sz="1300" b="1" dirty="0">
                <a:solidFill>
                  <a:srgbClr val="D55E00"/>
                </a:solidFill>
                <a:latin typeface="Calibri" pitchFamily="34" charset="0"/>
                <a:ea typeface="Calibri" pitchFamily="34" charset="-122"/>
                <a:cs typeface="Calibri" pitchFamily="34" charset="-120"/>
              </a:rPr>
              <a:t>principal shortfall</a:t>
            </a:r>
            <a:endParaRPr lang="en-US" sz="1300" dirty="0"/>
          </a:p>
        </p:txBody>
      </p:sp>
      <p:sp>
        <p:nvSpPr>
          <p:cNvPr id="20" name="Text 18"/>
          <p:cNvSpPr/>
          <p:nvPr/>
        </p:nvSpPr>
        <p:spPr>
          <a:xfrm>
            <a:off x="640080" y="4828032"/>
            <a:ext cx="10881360" cy="1280160"/>
          </a:xfrm>
          <a:prstGeom prst="rect">
            <a:avLst/>
          </a:prstGeom>
          <a:noFill/>
          <a:ln/>
        </p:spPr>
        <p:txBody>
          <a:bodyPr wrap="square" lIns="0" tIns="0" rIns="0" bIns="0" rtlCol="0" anchor="ctr"/>
          <a:lstStyle/>
          <a:p>
            <a:pPr indent="0" marL="0">
              <a:lnSpc>
                <a:spcPts val="2000"/>
              </a:lnSpc>
              <a:buNone/>
            </a:pPr>
            <a:r>
              <a:rPr lang="en-US" sz="1400" b="1" dirty="0">
                <a:solidFill>
                  <a:srgbClr val="333333"/>
                </a:solidFill>
                <a:latin typeface="Calibri" pitchFamily="34" charset="0"/>
                <a:ea typeface="Calibri" pitchFamily="34" charset="-122"/>
                <a:cs typeface="Calibri" pitchFamily="34" charset="-120"/>
              </a:rPr>
              <a:t>A 76.2% incomplete-recovery rate at f = 1.20 is not a 76.2% loss rate.</a:t>
            </a:r>
            <a:endParaRPr lang="en-US" sz="1400" dirty="0"/>
          </a:p>
          <a:p>
            <a:pPr indent="0" marL="0">
              <a:lnSpc>
                <a:spcPts val="2000"/>
              </a:lnSpc>
              <a:buNone/>
            </a:pPr>
            <a:r>
              <a:rPr lang="en-US" sz="1400" dirty="0">
                <a:solidFill>
                  <a:srgbClr val="333333"/>
                </a:solidFill>
                <a:latin typeface="Calibri" pitchFamily="34" charset="0"/>
                <a:ea typeface="Calibri" pitchFamily="34" charset="-122"/>
                <a:cs typeface="Calibri" pitchFamily="34" charset="-120"/>
              </a:rPr>
              <a:t>Incomplete recovery means the contractual target was not reached. Whether that touches principal depends on how much was recovered. At f* = 1.0945 the same scenario fails on only 7.6% of paths — the rate is a function of the price. Closure at month 7 recovers the same absolute amount at both cap factors, because that path is revenue-limited rather than cap-limited.</a:t>
            </a:r>
            <a:endParaRPr lang="en-US" sz="1400" dirty="0"/>
          </a:p>
        </p:txBody>
      </p:sp>
      <p:sp>
        <p:nvSpPr>
          <p:cNvPr id="21" name="Text 19"/>
          <p:cNvSpPr/>
          <p:nvPr/>
        </p:nvSpPr>
        <p:spPr>
          <a:xfrm>
            <a:off x="640080" y="6263640"/>
            <a:ext cx="10881360" cy="36576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recovery_ratio/24 × terms/cap, from both closure artifacts   ·   claim-ledger I-3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What our own statistics leave out</a:t>
            </a:r>
            <a:endParaRPr lang="en-US" sz="3200" dirty="0"/>
          </a:p>
        </p:txBody>
      </p:sp>
      <p:sp>
        <p:nvSpPr>
          <p:cNvPr id="3" name="Shape 1"/>
          <p:cNvSpPr/>
          <p:nvPr/>
        </p:nvSpPr>
        <p:spPr>
          <a:xfrm>
            <a:off x="640080" y="1645920"/>
            <a:ext cx="10881360" cy="1234440"/>
          </a:xfrm>
          <a:prstGeom prst="roundRect">
            <a:avLst>
              <a:gd name="adj" fmla="val 5926"/>
            </a:avLst>
          </a:prstGeom>
          <a:solidFill>
            <a:srgbClr val="F4F4F4"/>
          </a:solidFill>
          <a:ln w="12700">
            <a:solidFill>
              <a:srgbClr val="D8D8D8"/>
            </a:solidFill>
            <a:prstDash val="solid"/>
          </a:ln>
        </p:spPr>
      </p:sp>
      <p:sp>
        <p:nvSpPr>
          <p:cNvPr id="4" name="Text 2"/>
          <p:cNvSpPr/>
          <p:nvPr/>
        </p:nvSpPr>
        <p:spPr>
          <a:xfrm>
            <a:off x="1005840" y="1828800"/>
            <a:ext cx="10149840" cy="868680"/>
          </a:xfrm>
          <a:prstGeom prst="rect">
            <a:avLst/>
          </a:prstGeom>
          <a:noFill/>
          <a:ln/>
        </p:spPr>
        <p:txBody>
          <a:bodyPr wrap="square" lIns="0" tIns="0" rIns="0" bIns="0" rtlCol="0" anchor="ctr"/>
          <a:lstStyle/>
          <a:p>
            <a:pPr indent="0" marL="0">
              <a:lnSpc>
                <a:spcPts val="2100"/>
              </a:lnSpc>
              <a:buNone/>
            </a:pPr>
            <a:r>
              <a:rPr lang="en-US" sz="1500" dirty="0">
                <a:solidFill>
                  <a:srgbClr val="1A1A1A"/>
                </a:solidFill>
                <a:latin typeface="Calibri" pitchFamily="34" charset="0"/>
                <a:ea typeface="Calibri" pitchFamily="34" charset="-122"/>
                <a:cs typeface="Calibri" pitchFamily="34" charset="-120"/>
              </a:rPr>
              <a:t>Mean duration is computed only over paths that reached the target — it estimates E[T | completion by horizon H], not E[T]. Mean APR is computed over paths with a DEFINED RATE, a different and larger set: in closure_m13 at f = 1.20, 119 of 500 completed while all 500 had a rate.</a:t>
            </a:r>
            <a:endParaRPr lang="en-US" sz="1500" dirty="0"/>
          </a:p>
        </p:txBody>
      </p:sp>
      <p:sp>
        <p:nvSpPr>
          <p:cNvPr id="5" name="Text 3"/>
          <p:cNvSpPr/>
          <p:nvPr/>
        </p:nvSpPr>
        <p:spPr>
          <a:xfrm>
            <a:off x="640080" y="3154680"/>
            <a:ext cx="10881360" cy="365760"/>
          </a:xfrm>
          <a:prstGeom prst="rect">
            <a:avLst/>
          </a:prstGeom>
          <a:noFill/>
          <a:ln/>
        </p:spPr>
        <p:txBody>
          <a:bodyPr wrap="square" lIns="0" tIns="0" rIns="0" bIns="0" rtlCol="0" anchor="ctr"/>
          <a:lstStyle/>
          <a:p>
            <a:pPr indent="0" marL="0">
              <a:buNone/>
            </a:pPr>
            <a:r>
              <a:rPr lang="en-US" sz="1700" b="1" dirty="0">
                <a:solidFill>
                  <a:srgbClr val="1A1A1A"/>
                </a:solidFill>
                <a:latin typeface="Cambria" pitchFamily="34" charset="0"/>
                <a:ea typeface="Cambria" pitchFamily="34" charset="-122"/>
                <a:cs typeface="Cambria" pitchFamily="34" charset="-120"/>
              </a:rPr>
              <a:t>The reading rule this forces</a:t>
            </a:r>
            <a:endParaRPr lang="en-US" sz="1700" dirty="0"/>
          </a:p>
        </p:txBody>
      </p:sp>
      <p:sp>
        <p:nvSpPr>
          <p:cNvPr id="6" name="Text 4"/>
          <p:cNvSpPr/>
          <p:nvPr/>
        </p:nvSpPr>
        <p:spPr>
          <a:xfrm>
            <a:off x="640080" y="3611880"/>
            <a:ext cx="10881360" cy="731520"/>
          </a:xfrm>
          <a:prstGeom prst="rect">
            <a:avLst/>
          </a:prstGeom>
          <a:noFill/>
          <a:ln/>
        </p:spPr>
        <p:txBody>
          <a:bodyPr wrap="square" lIns="0" tIns="0" rIns="0" bIns="0" rtlCol="0" anchor="ctr"/>
          <a:lstStyle/>
          <a:p>
            <a:pPr indent="0" marL="0">
              <a:lnSpc>
                <a:spcPts val="2100"/>
              </a:lnSpc>
              <a:buNone/>
            </a:pPr>
            <a:r>
              <a:rPr lang="en-US" sz="1500" dirty="0">
                <a:solidFill>
                  <a:srgbClr val="333333"/>
                </a:solidFill>
                <a:latin typeface="Calibri" pitchFamily="34" charset="0"/>
                <a:ea typeface="Calibri" pitchFamily="34" charset="-122"/>
                <a:cs typeface="Calibri" pitchFamily="34" charset="-120"/>
              </a:rPr>
              <a:t>A scenario with a short mean duration and a high incomplete-recovery rate is not a fast contract — it is one where the slow paths were dropped rather than counted.</a:t>
            </a:r>
            <a:endParaRPr lang="en-US" sz="1500" dirty="0"/>
          </a:p>
        </p:txBody>
      </p:sp>
      <p:sp>
        <p:nvSpPr>
          <p:cNvPr id="7" name="Shape 5"/>
          <p:cNvSpPr/>
          <p:nvPr/>
        </p:nvSpPr>
        <p:spPr>
          <a:xfrm>
            <a:off x="640080" y="4434840"/>
            <a:ext cx="10881360" cy="1234440"/>
          </a:xfrm>
          <a:prstGeom prst="roundRect">
            <a:avLst>
              <a:gd name="adj" fmla="val 5926"/>
            </a:avLst>
          </a:prstGeom>
          <a:solidFill>
            <a:srgbClr val="FDF3EF"/>
          </a:solidFill>
          <a:ln w="19050">
            <a:solidFill>
              <a:srgbClr val="D55E00"/>
            </a:solidFill>
            <a:prstDash val="solid"/>
          </a:ln>
        </p:spPr>
      </p:sp>
      <p:sp>
        <p:nvSpPr>
          <p:cNvPr id="8" name="Text 6"/>
          <p:cNvSpPr/>
          <p:nvPr/>
        </p:nvSpPr>
        <p:spPr>
          <a:xfrm>
            <a:off x="1005840" y="4617720"/>
            <a:ext cx="10149840" cy="868680"/>
          </a:xfrm>
          <a:prstGeom prst="rect">
            <a:avLst/>
          </a:prstGeom>
          <a:noFill/>
          <a:ln/>
        </p:spPr>
        <p:txBody>
          <a:bodyPr wrap="square" lIns="0" tIns="0" rIns="0" bIns="0" rtlCol="0" anchor="ctr"/>
          <a:lstStyle/>
          <a:p>
            <a:pPr indent="0" marL="0">
              <a:buNone/>
            </a:pPr>
            <a:r>
              <a:rPr lang="en-US" sz="1500" b="1" dirty="0">
                <a:solidFill>
                  <a:srgbClr val="6B2E12"/>
                </a:solidFill>
                <a:latin typeface="Calibri" pitchFamily="34" charset="0"/>
                <a:ea typeface="Calibri" pitchFamily="34" charset="-122"/>
                <a:cs typeface="Calibri" pitchFamily="34" charset="-120"/>
              </a:rPr>
              <a:t>Closure at month 13, f = 1.20: mean duration 11.99 months — alongside 76.2% of paths never completing.</a:t>
            </a:r>
            <a:endParaRPr lang="en-US" sz="1500" dirty="0"/>
          </a:p>
        </p:txBody>
      </p:sp>
      <p:sp>
        <p:nvSpPr>
          <p:cNvPr id="9" name="Text 7"/>
          <p:cNvSpPr/>
          <p:nvPr/>
        </p:nvSpPr>
        <p:spPr>
          <a:xfrm>
            <a:off x="640080" y="6263640"/>
            <a:ext cx="10881360" cy="36576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baseline_closure_v2_canonical.json → /scenarios/closure_m13/RBF</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What this study does not claim</a:t>
            </a:r>
            <a:endParaRPr lang="en-US" sz="3200" dirty="0"/>
          </a:p>
        </p:txBody>
      </p:sp>
      <p:sp>
        <p:nvSpPr>
          <p:cNvPr id="3" name="Shape 1"/>
          <p:cNvSpPr/>
          <p:nvPr/>
        </p:nvSpPr>
        <p:spPr>
          <a:xfrm>
            <a:off x="685800" y="1655064"/>
            <a:ext cx="310896" cy="310896"/>
          </a:xfrm>
          <a:prstGeom prst="ellipse">
            <a:avLst/>
          </a:prstGeom>
          <a:solidFill>
            <a:srgbClr val="D55E00"/>
          </a:solidFill>
          <a:ln/>
        </p:spPr>
      </p:sp>
      <p:sp>
        <p:nvSpPr>
          <p:cNvPr id="4" name="Text 2"/>
          <p:cNvSpPr/>
          <p:nvPr/>
        </p:nvSpPr>
        <p:spPr>
          <a:xfrm>
            <a:off x="1234440" y="1572768"/>
            <a:ext cx="3108960" cy="384048"/>
          </a:xfrm>
          <a:prstGeom prst="rect">
            <a:avLst/>
          </a:prstGeom>
          <a:noFill/>
          <a:ln/>
        </p:spPr>
        <p:txBody>
          <a:bodyPr wrap="square" lIns="0" tIns="0" rIns="0" bIns="0" rtlCol="0" anchor="t"/>
          <a:lstStyle/>
          <a:p>
            <a:pPr indent="0" marL="0">
              <a:buNone/>
            </a:pPr>
            <a:r>
              <a:rPr lang="en-US" sz="1500" b="1" dirty="0">
                <a:solidFill>
                  <a:srgbClr val="1A1A1A"/>
                </a:solidFill>
                <a:latin typeface="Cambria" pitchFamily="34" charset="0"/>
                <a:ea typeface="Cambria" pitchFamily="34" charset="-122"/>
                <a:cs typeface="Cambria" pitchFamily="34" charset="-120"/>
              </a:rPr>
              <a:t>No predictive validity</a:t>
            </a:r>
            <a:endParaRPr lang="en-US" sz="1500" dirty="0"/>
          </a:p>
        </p:txBody>
      </p:sp>
      <p:sp>
        <p:nvSpPr>
          <p:cNvPr id="5" name="Text 3"/>
          <p:cNvSpPr/>
          <p:nvPr/>
        </p:nvSpPr>
        <p:spPr>
          <a:xfrm>
            <a:off x="4434840" y="1572768"/>
            <a:ext cx="7086600" cy="960120"/>
          </a:xfrm>
          <a:prstGeom prst="rect">
            <a:avLst/>
          </a:prstGeom>
          <a:noFill/>
          <a:ln/>
        </p:spPr>
        <p:txBody>
          <a:bodyPr wrap="square" lIns="0" tIns="0" rIns="0" bIns="0" rtlCol="0" anchor="t"/>
          <a:lstStyle/>
          <a:p>
            <a:pPr indent="0" marL="0">
              <a:lnSpc>
                <a:spcPts val="1800"/>
              </a:lnSpc>
              <a:buNone/>
            </a:pPr>
            <a:r>
              <a:rPr lang="en-US" sz="1250" dirty="0">
                <a:solidFill>
                  <a:srgbClr val="333333"/>
                </a:solidFill>
                <a:latin typeface="Calibri" pitchFamily="34" charset="0"/>
                <a:ea typeface="Calibri" pitchFamily="34" charset="-122"/>
                <a:cs typeface="Calibri" pitchFamily="34" charset="-120"/>
              </a:rPr>
              <a:t>The demonstration risk score is trained on synthetic data whose label is a formula over the same features. Generating-function AUC 0.9098 vs reported ensemble 0.9182 — the figure measured the chosen noise variance, and is withdrawn.</a:t>
            </a:r>
            <a:endParaRPr lang="en-US" sz="1250" dirty="0"/>
          </a:p>
        </p:txBody>
      </p:sp>
      <p:sp>
        <p:nvSpPr>
          <p:cNvPr id="6" name="Shape 4"/>
          <p:cNvSpPr/>
          <p:nvPr/>
        </p:nvSpPr>
        <p:spPr>
          <a:xfrm>
            <a:off x="685800" y="2752344"/>
            <a:ext cx="310896" cy="310896"/>
          </a:xfrm>
          <a:prstGeom prst="ellipse">
            <a:avLst/>
          </a:prstGeom>
          <a:solidFill>
            <a:srgbClr val="D55E00"/>
          </a:solidFill>
          <a:ln/>
        </p:spPr>
      </p:sp>
      <p:sp>
        <p:nvSpPr>
          <p:cNvPr id="7" name="Text 5"/>
          <p:cNvSpPr/>
          <p:nvPr/>
        </p:nvSpPr>
        <p:spPr>
          <a:xfrm>
            <a:off x="1234440" y="2670048"/>
            <a:ext cx="3108960" cy="384048"/>
          </a:xfrm>
          <a:prstGeom prst="rect">
            <a:avLst/>
          </a:prstGeom>
          <a:noFill/>
          <a:ln/>
        </p:spPr>
        <p:txBody>
          <a:bodyPr wrap="square" lIns="0" tIns="0" rIns="0" bIns="0" rtlCol="0" anchor="t"/>
          <a:lstStyle/>
          <a:p>
            <a:pPr indent="0" marL="0">
              <a:buNone/>
            </a:pPr>
            <a:r>
              <a:rPr lang="en-US" sz="1500" b="1" dirty="0">
                <a:solidFill>
                  <a:srgbClr val="1A1A1A"/>
                </a:solidFill>
                <a:latin typeface="Cambria" pitchFamily="34" charset="0"/>
                <a:ea typeface="Cambria" pitchFamily="34" charset="-122"/>
                <a:cs typeface="Cambria" pitchFamily="34" charset="-120"/>
              </a:rPr>
              <a:t>No affordability claim</a:t>
            </a:r>
            <a:endParaRPr lang="en-US" sz="1500" dirty="0"/>
          </a:p>
        </p:txBody>
      </p:sp>
      <p:sp>
        <p:nvSpPr>
          <p:cNvPr id="8" name="Text 6"/>
          <p:cNvSpPr/>
          <p:nvPr/>
        </p:nvSpPr>
        <p:spPr>
          <a:xfrm>
            <a:off x="4434840" y="2670048"/>
            <a:ext cx="7086600" cy="960120"/>
          </a:xfrm>
          <a:prstGeom prst="rect">
            <a:avLst/>
          </a:prstGeom>
          <a:noFill/>
          <a:ln/>
        </p:spPr>
        <p:txBody>
          <a:bodyPr wrap="square" lIns="0" tIns="0" rIns="0" bIns="0" rtlCol="0" anchor="t"/>
          <a:lstStyle/>
          <a:p>
            <a:pPr indent="0" marL="0">
              <a:lnSpc>
                <a:spcPts val="1800"/>
              </a:lnSpc>
              <a:buNone/>
            </a:pPr>
            <a:r>
              <a:rPr lang="en-US" sz="1250" dirty="0">
                <a:solidFill>
                  <a:srgbClr val="333333"/>
                </a:solidFill>
                <a:latin typeface="Calibri" pitchFamily="34" charset="0"/>
                <a:ea typeface="Calibri" pitchFamily="34" charset="-122"/>
                <a:cs typeface="Calibri" pitchFamily="34" charset="-120"/>
              </a:rPr>
              <a:t>Burden is measured against revenue, not against what the seller retains. Margins, costs, reserves and other obligations are outside the model.</a:t>
            </a:r>
            <a:endParaRPr lang="en-US" sz="1250" dirty="0"/>
          </a:p>
        </p:txBody>
      </p:sp>
      <p:sp>
        <p:nvSpPr>
          <p:cNvPr id="9" name="Shape 7"/>
          <p:cNvSpPr/>
          <p:nvPr/>
        </p:nvSpPr>
        <p:spPr>
          <a:xfrm>
            <a:off x="685800" y="3849624"/>
            <a:ext cx="310896" cy="310896"/>
          </a:xfrm>
          <a:prstGeom prst="ellipse">
            <a:avLst/>
          </a:prstGeom>
          <a:solidFill>
            <a:srgbClr val="D55E00"/>
          </a:solidFill>
          <a:ln/>
        </p:spPr>
      </p:sp>
      <p:sp>
        <p:nvSpPr>
          <p:cNvPr id="10" name="Text 8"/>
          <p:cNvSpPr/>
          <p:nvPr/>
        </p:nvSpPr>
        <p:spPr>
          <a:xfrm>
            <a:off x="1234440" y="3767328"/>
            <a:ext cx="3108960" cy="384048"/>
          </a:xfrm>
          <a:prstGeom prst="rect">
            <a:avLst/>
          </a:prstGeom>
          <a:noFill/>
          <a:ln/>
        </p:spPr>
        <p:txBody>
          <a:bodyPr wrap="square" lIns="0" tIns="0" rIns="0" bIns="0" rtlCol="0" anchor="t"/>
          <a:lstStyle/>
          <a:p>
            <a:pPr indent="0" marL="0">
              <a:buNone/>
            </a:pPr>
            <a:r>
              <a:rPr lang="en-US" sz="1500" b="1" dirty="0">
                <a:solidFill>
                  <a:srgbClr val="1A1A1A"/>
                </a:solidFill>
                <a:latin typeface="Cambria" pitchFamily="34" charset="0"/>
                <a:ea typeface="Cambria" pitchFamily="34" charset="-122"/>
                <a:cs typeface="Cambria" pitchFamily="34" charset="-120"/>
              </a:rPr>
              <a:t>No default claim, either way</a:t>
            </a:r>
            <a:endParaRPr lang="en-US" sz="1500" dirty="0"/>
          </a:p>
        </p:txBody>
      </p:sp>
      <p:sp>
        <p:nvSpPr>
          <p:cNvPr id="11" name="Text 9"/>
          <p:cNvSpPr/>
          <p:nvPr/>
        </p:nvSpPr>
        <p:spPr>
          <a:xfrm>
            <a:off x="4434840" y="3767328"/>
            <a:ext cx="7086600" cy="960120"/>
          </a:xfrm>
          <a:prstGeom prst="rect">
            <a:avLst/>
          </a:prstGeom>
          <a:noFill/>
          <a:ln/>
        </p:spPr>
        <p:txBody>
          <a:bodyPr wrap="square" lIns="0" tIns="0" rIns="0" bIns="0" rtlCol="0" anchor="t"/>
          <a:lstStyle/>
          <a:p>
            <a:pPr indent="0" marL="0">
              <a:lnSpc>
                <a:spcPts val="1800"/>
              </a:lnSpc>
              <a:buNone/>
            </a:pPr>
            <a:r>
              <a:rPr lang="en-US" sz="1250" dirty="0">
                <a:solidFill>
                  <a:srgbClr val="333333"/>
                </a:solidFill>
                <a:latin typeface="Calibri" pitchFamily="34" charset="0"/>
                <a:ea typeface="Calibri" pitchFamily="34" charset="-122"/>
                <a:cs typeface="Calibri" pitchFamily="34" charset="-120"/>
              </a:rPr>
              <a:t>There is no default model here. The closure result disproves any guarantee of contractual completion — it does not show defaults or a default rate.</a:t>
            </a:r>
            <a:endParaRPr lang="en-US" sz="1250" dirty="0"/>
          </a:p>
        </p:txBody>
      </p:sp>
      <p:sp>
        <p:nvSpPr>
          <p:cNvPr id="12" name="Shape 10"/>
          <p:cNvSpPr/>
          <p:nvPr/>
        </p:nvSpPr>
        <p:spPr>
          <a:xfrm>
            <a:off x="685800" y="4946904"/>
            <a:ext cx="310896" cy="310896"/>
          </a:xfrm>
          <a:prstGeom prst="ellipse">
            <a:avLst/>
          </a:prstGeom>
          <a:solidFill>
            <a:srgbClr val="D55E00"/>
          </a:solidFill>
          <a:ln/>
        </p:spPr>
      </p:sp>
      <p:sp>
        <p:nvSpPr>
          <p:cNvPr id="13" name="Text 11"/>
          <p:cNvSpPr/>
          <p:nvPr/>
        </p:nvSpPr>
        <p:spPr>
          <a:xfrm>
            <a:off x="1234440" y="4864608"/>
            <a:ext cx="3108960" cy="384048"/>
          </a:xfrm>
          <a:prstGeom prst="rect">
            <a:avLst/>
          </a:prstGeom>
          <a:noFill/>
          <a:ln/>
        </p:spPr>
        <p:txBody>
          <a:bodyPr wrap="square" lIns="0" tIns="0" rIns="0" bIns="0" rtlCol="0" anchor="t"/>
          <a:lstStyle/>
          <a:p>
            <a:pPr indent="0" marL="0">
              <a:buNone/>
            </a:pPr>
            <a:r>
              <a:rPr lang="en-US" sz="1500" b="1" dirty="0">
                <a:solidFill>
                  <a:srgbClr val="1A1A1A"/>
                </a:solidFill>
                <a:latin typeface="Cambria" pitchFamily="34" charset="0"/>
                <a:ea typeface="Cambria" pitchFamily="34" charset="-122"/>
                <a:cs typeface="Cambria" pitchFamily="34" charset="-120"/>
              </a:rPr>
              <a:t>No causal or population claim</a:t>
            </a:r>
            <a:endParaRPr lang="en-US" sz="1500" dirty="0"/>
          </a:p>
        </p:txBody>
      </p:sp>
      <p:sp>
        <p:nvSpPr>
          <p:cNvPr id="14" name="Text 12"/>
          <p:cNvSpPr/>
          <p:nvPr/>
        </p:nvSpPr>
        <p:spPr>
          <a:xfrm>
            <a:off x="4434840" y="4864608"/>
            <a:ext cx="7086600" cy="960120"/>
          </a:xfrm>
          <a:prstGeom prst="rect">
            <a:avLst/>
          </a:prstGeom>
          <a:noFill/>
          <a:ln/>
        </p:spPr>
        <p:txBody>
          <a:bodyPr wrap="square" lIns="0" tIns="0" rIns="0" bIns="0" rtlCol="0" anchor="t"/>
          <a:lstStyle/>
          <a:p>
            <a:pPr indent="0" marL="0">
              <a:lnSpc>
                <a:spcPts val="1800"/>
              </a:lnSpc>
              <a:buNone/>
            </a:pPr>
            <a:r>
              <a:rPr lang="en-US" sz="1250" dirty="0">
                <a:solidFill>
                  <a:srgbClr val="333333"/>
                </a:solidFill>
                <a:latin typeface="Calibri" pitchFamily="34" charset="0"/>
                <a:ea typeface="Calibri" pitchFamily="34" charset="-122"/>
                <a:cs typeface="Calibri" pitchFamily="34" charset="-120"/>
              </a:rPr>
              <a:t>Nothing here is evidence about Vietnamese sellers, or any seller. Vietnam is the motivating setting; no parameter was estimated from Vietnamese data.</a:t>
            </a:r>
            <a:endParaRPr lang="en-US" sz="1250" dirty="0"/>
          </a:p>
        </p:txBody>
      </p:sp>
      <p:sp>
        <p:nvSpPr>
          <p:cNvPr id="15" name="Text 13"/>
          <p:cNvSpPr/>
          <p:nvPr/>
        </p:nvSpPr>
        <p:spPr>
          <a:xfrm>
            <a:off x="640080" y="5806440"/>
            <a:ext cx="10881360" cy="45720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The fixed arm is modelled as paid in full and on time — an optimistic scheduled-recovery benchmark, which flatters the comparison against 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822960"/>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Every simulation result traces to a checksummed artifact</a:t>
            </a:r>
            <a:endParaRPr lang="en-US" sz="3200" dirty="0"/>
          </a:p>
        </p:txBody>
      </p:sp>
      <p:sp>
        <p:nvSpPr>
          <p:cNvPr id="3" name="Shape 1"/>
          <p:cNvSpPr/>
          <p:nvPr/>
        </p:nvSpPr>
        <p:spPr>
          <a:xfrm>
            <a:off x="640080" y="1645920"/>
            <a:ext cx="3383280" cy="1600200"/>
          </a:xfrm>
          <a:prstGeom prst="roundRect">
            <a:avLst>
              <a:gd name="adj" fmla="val 4571"/>
            </a:avLst>
          </a:prstGeom>
          <a:solidFill>
            <a:srgbClr val="FAFAFA"/>
          </a:solidFill>
          <a:ln w="12700">
            <a:solidFill>
              <a:srgbClr val="D8D8D8"/>
            </a:solidFill>
            <a:prstDash val="solid"/>
          </a:ln>
        </p:spPr>
      </p:sp>
      <p:sp>
        <p:nvSpPr>
          <p:cNvPr id="4" name="Text 2"/>
          <p:cNvSpPr/>
          <p:nvPr/>
        </p:nvSpPr>
        <p:spPr>
          <a:xfrm>
            <a:off x="932688" y="1810512"/>
            <a:ext cx="2798064" cy="749808"/>
          </a:xfrm>
          <a:prstGeom prst="rect">
            <a:avLst/>
          </a:prstGeom>
          <a:noFill/>
          <a:ln/>
        </p:spPr>
        <p:txBody>
          <a:bodyPr wrap="square" lIns="0" tIns="0" rIns="0" bIns="0" rtlCol="0" anchor="ctr"/>
          <a:lstStyle/>
          <a:p>
            <a:pPr indent="0" marL="0">
              <a:buNone/>
            </a:pPr>
            <a:r>
              <a:rPr lang="en-US" sz="3400" b="1" dirty="0">
                <a:solidFill>
                  <a:srgbClr val="0072B2"/>
                </a:solidFill>
                <a:latin typeface="Cambria" pitchFamily="34" charset="0"/>
                <a:ea typeface="Cambria" pitchFamily="34" charset="-122"/>
                <a:cs typeface="Cambria" pitchFamily="34" charset="-120"/>
              </a:rPr>
              <a:t>5</a:t>
            </a:r>
            <a:endParaRPr lang="en-US" sz="3400" dirty="0"/>
          </a:p>
        </p:txBody>
      </p:sp>
      <p:sp>
        <p:nvSpPr>
          <p:cNvPr id="5" name="Text 3"/>
          <p:cNvSpPr/>
          <p:nvPr/>
        </p:nvSpPr>
        <p:spPr>
          <a:xfrm>
            <a:off x="932688" y="2578608"/>
            <a:ext cx="2798064" cy="548640"/>
          </a:xfrm>
          <a:prstGeom prst="rect">
            <a:avLst/>
          </a:prstGeom>
          <a:noFill/>
          <a:ln/>
        </p:spPr>
        <p:txBody>
          <a:bodyPr wrap="square" lIns="0" tIns="0" rIns="0" bIns="0" rtlCol="0" anchor="t"/>
          <a:lstStyle/>
          <a:p>
            <a:pPr indent="0" marL="0">
              <a:lnSpc>
                <a:spcPts val="1600"/>
              </a:lnSpc>
              <a:buNone/>
            </a:pPr>
            <a:r>
              <a:rPr lang="en-US" sz="1200" dirty="0">
                <a:solidFill>
                  <a:srgbClr val="444444"/>
                </a:solidFill>
                <a:latin typeface="Calibri" pitchFamily="34" charset="0"/>
                <a:ea typeface="Calibri" pitchFamily="34" charset="-122"/>
                <a:cs typeface="Calibri" pitchFamily="34" charset="-120"/>
              </a:rPr>
              <a:t>canonical artifacts, each with a</a:t>
            </a:r>
            <a:endParaRPr lang="en-US" sz="1200" dirty="0"/>
          </a:p>
          <a:p>
            <a:pPr indent="0" marL="0">
              <a:lnSpc>
                <a:spcPts val="1600"/>
              </a:lnSpc>
              <a:buNone/>
            </a:pPr>
            <a:r>
              <a:rPr lang="en-US" sz="1200" dirty="0">
                <a:solidFill>
                  <a:srgbClr val="444444"/>
                </a:solidFill>
                <a:latin typeface="Calibri" pitchFamily="34" charset="0"/>
                <a:ea typeface="Calibri" pitchFamily="34" charset="-122"/>
                <a:cs typeface="Calibri" pitchFamily="34" charset="-120"/>
              </a:rPr>
              <a:t>registered SHA-256</a:t>
            </a:r>
            <a:endParaRPr lang="en-US" sz="1200" dirty="0"/>
          </a:p>
        </p:txBody>
      </p:sp>
      <p:sp>
        <p:nvSpPr>
          <p:cNvPr id="6" name="Shape 4"/>
          <p:cNvSpPr/>
          <p:nvPr/>
        </p:nvSpPr>
        <p:spPr>
          <a:xfrm>
            <a:off x="4389120" y="1645920"/>
            <a:ext cx="3383280" cy="1600200"/>
          </a:xfrm>
          <a:prstGeom prst="roundRect">
            <a:avLst>
              <a:gd name="adj" fmla="val 4571"/>
            </a:avLst>
          </a:prstGeom>
          <a:solidFill>
            <a:srgbClr val="FAFAFA"/>
          </a:solidFill>
          <a:ln w="12700">
            <a:solidFill>
              <a:srgbClr val="D8D8D8"/>
            </a:solidFill>
            <a:prstDash val="solid"/>
          </a:ln>
        </p:spPr>
      </p:sp>
      <p:sp>
        <p:nvSpPr>
          <p:cNvPr id="7" name="Text 5"/>
          <p:cNvSpPr/>
          <p:nvPr/>
        </p:nvSpPr>
        <p:spPr>
          <a:xfrm>
            <a:off x="4681728" y="1810512"/>
            <a:ext cx="2798064" cy="749808"/>
          </a:xfrm>
          <a:prstGeom prst="rect">
            <a:avLst/>
          </a:prstGeom>
          <a:noFill/>
          <a:ln/>
        </p:spPr>
        <p:txBody>
          <a:bodyPr wrap="square" lIns="0" tIns="0" rIns="0" bIns="0" rtlCol="0" anchor="ctr"/>
          <a:lstStyle/>
          <a:p>
            <a:pPr indent="0" marL="0">
              <a:buNone/>
            </a:pPr>
            <a:r>
              <a:rPr lang="en-US" sz="3400" b="1" dirty="0">
                <a:solidFill>
                  <a:srgbClr val="0072B2"/>
                </a:solidFill>
                <a:latin typeface="Cambria" pitchFamily="34" charset="0"/>
                <a:ea typeface="Cambria" pitchFamily="34" charset="-122"/>
                <a:cs typeface="Cambria" pitchFamily="34" charset="-120"/>
              </a:rPr>
              <a:t>1,138</a:t>
            </a:r>
            <a:endParaRPr lang="en-US" sz="3400" dirty="0"/>
          </a:p>
        </p:txBody>
      </p:sp>
      <p:sp>
        <p:nvSpPr>
          <p:cNvPr id="8" name="Text 6"/>
          <p:cNvSpPr/>
          <p:nvPr/>
        </p:nvSpPr>
        <p:spPr>
          <a:xfrm>
            <a:off x="4681728" y="2578608"/>
            <a:ext cx="2798064" cy="548640"/>
          </a:xfrm>
          <a:prstGeom prst="rect">
            <a:avLst/>
          </a:prstGeom>
          <a:noFill/>
          <a:ln/>
        </p:spPr>
        <p:txBody>
          <a:bodyPr wrap="square" lIns="0" tIns="0" rIns="0" bIns="0" rtlCol="0" anchor="t"/>
          <a:lstStyle/>
          <a:p>
            <a:pPr indent="0" marL="0">
              <a:lnSpc>
                <a:spcPts val="1600"/>
              </a:lnSpc>
              <a:buNone/>
            </a:pPr>
            <a:r>
              <a:rPr lang="en-US" sz="1200" dirty="0">
                <a:solidFill>
                  <a:srgbClr val="444444"/>
                </a:solidFill>
                <a:latin typeface="Calibri" pitchFamily="34" charset="0"/>
                <a:ea typeface="Calibri" pitchFamily="34" charset="-122"/>
                <a:cs typeface="Calibri" pitchFamily="34" charset="-120"/>
              </a:rPr>
              <a:t>non-browser tests passing —</a:t>
            </a:r>
            <a:endParaRPr lang="en-US" sz="1200" dirty="0"/>
          </a:p>
          <a:p>
            <a:pPr indent="0" marL="0">
              <a:lnSpc>
                <a:spcPts val="1600"/>
              </a:lnSpc>
              <a:buNone/>
            </a:pPr>
            <a:r>
              <a:rPr lang="en-US" sz="1200" dirty="0">
                <a:solidFill>
                  <a:srgbClr val="444444"/>
                </a:solidFill>
                <a:latin typeface="Calibri" pitchFamily="34" charset="0"/>
                <a:ea typeface="Calibri" pitchFamily="34" charset="-122"/>
                <a:cs typeface="Calibri" pitchFamily="34" charset="-120"/>
              </a:rPr>
              <a:t>495 backend, 643 simulation</a:t>
            </a:r>
            <a:endParaRPr lang="en-US" sz="1200" dirty="0"/>
          </a:p>
        </p:txBody>
      </p:sp>
      <p:sp>
        <p:nvSpPr>
          <p:cNvPr id="9" name="Shape 7"/>
          <p:cNvSpPr/>
          <p:nvPr/>
        </p:nvSpPr>
        <p:spPr>
          <a:xfrm>
            <a:off x="8138160" y="1645920"/>
            <a:ext cx="3383280" cy="1600200"/>
          </a:xfrm>
          <a:prstGeom prst="roundRect">
            <a:avLst>
              <a:gd name="adj" fmla="val 4571"/>
            </a:avLst>
          </a:prstGeom>
          <a:solidFill>
            <a:srgbClr val="FAFAFA"/>
          </a:solidFill>
          <a:ln w="12700">
            <a:solidFill>
              <a:srgbClr val="D8D8D8"/>
            </a:solidFill>
            <a:prstDash val="solid"/>
          </a:ln>
        </p:spPr>
      </p:sp>
      <p:sp>
        <p:nvSpPr>
          <p:cNvPr id="10" name="Text 8"/>
          <p:cNvSpPr/>
          <p:nvPr/>
        </p:nvSpPr>
        <p:spPr>
          <a:xfrm>
            <a:off x="8430768" y="1810512"/>
            <a:ext cx="2798064" cy="749808"/>
          </a:xfrm>
          <a:prstGeom prst="rect">
            <a:avLst/>
          </a:prstGeom>
          <a:noFill/>
          <a:ln/>
        </p:spPr>
        <p:txBody>
          <a:bodyPr wrap="square" lIns="0" tIns="0" rIns="0" bIns="0" rtlCol="0" anchor="ctr"/>
          <a:lstStyle/>
          <a:p>
            <a:pPr indent="0" marL="0">
              <a:buNone/>
            </a:pPr>
            <a:r>
              <a:rPr lang="en-US" sz="3400" b="1" dirty="0">
                <a:solidFill>
                  <a:srgbClr val="0072B2"/>
                </a:solidFill>
                <a:latin typeface="Cambria" pitchFamily="34" charset="0"/>
                <a:ea typeface="Cambria" pitchFamily="34" charset="-122"/>
                <a:cs typeface="Cambria" pitchFamily="34" charset="-120"/>
              </a:rPr>
              <a:t>44</a:t>
            </a:r>
            <a:endParaRPr lang="en-US" sz="3400" dirty="0"/>
          </a:p>
        </p:txBody>
      </p:sp>
      <p:sp>
        <p:nvSpPr>
          <p:cNvPr id="11" name="Text 9"/>
          <p:cNvSpPr/>
          <p:nvPr/>
        </p:nvSpPr>
        <p:spPr>
          <a:xfrm>
            <a:off x="8430768" y="2578608"/>
            <a:ext cx="2798064" cy="548640"/>
          </a:xfrm>
          <a:prstGeom prst="rect">
            <a:avLst/>
          </a:prstGeom>
          <a:noFill/>
          <a:ln/>
        </p:spPr>
        <p:txBody>
          <a:bodyPr wrap="square" lIns="0" tIns="0" rIns="0" bIns="0" rtlCol="0" anchor="t"/>
          <a:lstStyle/>
          <a:p>
            <a:pPr indent="0" marL="0">
              <a:lnSpc>
                <a:spcPts val="1600"/>
              </a:lnSpc>
              <a:buNone/>
            </a:pPr>
            <a:r>
              <a:rPr lang="en-US" sz="1200" dirty="0">
                <a:solidFill>
                  <a:srgbClr val="444444"/>
                </a:solidFill>
                <a:latin typeface="Calibri" pitchFamily="34" charset="0"/>
                <a:ea typeface="Calibri" pitchFamily="34" charset="-122"/>
                <a:cs typeface="Calibri" pitchFamily="34" charset="-120"/>
              </a:rPr>
              <a:t>verified sources, with 6</a:t>
            </a:r>
            <a:endParaRPr lang="en-US" sz="1200" dirty="0"/>
          </a:p>
          <a:p>
            <a:pPr indent="0" marL="0">
              <a:lnSpc>
                <a:spcPts val="1600"/>
              </a:lnSpc>
              <a:buNone/>
            </a:pPr>
            <a:r>
              <a:rPr lang="en-US" sz="1200" dirty="0">
                <a:solidFill>
                  <a:srgbClr val="444444"/>
                </a:solidFill>
                <a:latin typeface="Calibri" pitchFamily="34" charset="0"/>
                <a:ea typeface="Calibri" pitchFamily="34" charset="-122"/>
                <a:cs typeface="Calibri" pitchFamily="34" charset="-120"/>
              </a:rPr>
              <a:t>evidence gaps stated openly</a:t>
            </a:r>
            <a:endParaRPr lang="en-US" sz="1200" dirty="0"/>
          </a:p>
        </p:txBody>
      </p:sp>
      <p:sp>
        <p:nvSpPr>
          <p:cNvPr id="12" name="Text 10"/>
          <p:cNvSpPr/>
          <p:nvPr/>
        </p:nvSpPr>
        <p:spPr>
          <a:xfrm>
            <a:off x="640080" y="3520440"/>
            <a:ext cx="10881360" cy="365760"/>
          </a:xfrm>
          <a:prstGeom prst="rect">
            <a:avLst/>
          </a:prstGeom>
          <a:noFill/>
          <a:ln/>
        </p:spPr>
        <p:txBody>
          <a:bodyPr wrap="square" lIns="0" tIns="0" rIns="0" bIns="0" rtlCol="0" anchor="ctr"/>
          <a:lstStyle/>
          <a:p>
            <a:pPr indent="0" marL="0">
              <a:buNone/>
            </a:pPr>
            <a:r>
              <a:rPr lang="en-US" sz="1600" b="1" dirty="0">
                <a:solidFill>
                  <a:srgbClr val="1A1A1A"/>
                </a:solidFill>
                <a:latin typeface="Cambria" pitchFamily="34" charset="0"/>
                <a:ea typeface="Cambria" pitchFamily="34" charset="-122"/>
                <a:cs typeface="Cambria" pitchFamily="34" charset="-120"/>
              </a:rPr>
              <a:t>Reproducibility, stated at the strength the measurement supports</a:t>
            </a:r>
            <a:endParaRPr lang="en-US" sz="1600" dirty="0"/>
          </a:p>
        </p:txBody>
      </p:sp>
      <p:sp>
        <p:nvSpPr>
          <p:cNvPr id="13" name="Text 11"/>
          <p:cNvSpPr/>
          <p:nvPr/>
        </p:nvSpPr>
        <p:spPr>
          <a:xfrm>
            <a:off x="640080" y="3931920"/>
            <a:ext cx="10881360" cy="530352"/>
          </a:xfrm>
          <a:prstGeom prst="rect">
            <a:avLst/>
          </a:prstGeom>
          <a:noFill/>
          <a:ln/>
        </p:spPr>
        <p:txBody>
          <a:bodyPr wrap="square" lIns="0" tIns="0" rIns="0" bIns="0" rtlCol="0" anchor="ctr"/>
          <a:lstStyle/>
          <a:p>
            <a:pPr indent="0" marL="0">
              <a:lnSpc>
                <a:spcPts val="1600"/>
              </a:lnSpc>
              <a:buNone/>
            </a:pPr>
            <a:r>
              <a:rPr lang="en-US" sz="1250" dirty="0">
                <a:solidFill>
                  <a:srgbClr val="333333"/>
                </a:solidFill>
                <a:latin typeface="Calibri" pitchFamily="34" charset="0"/>
                <a:ea typeface="Calibri" pitchFamily="34" charset="-122"/>
                <a:cs typeface="Calibri" pitchFamily="34" charset="-120"/>
              </a:rPr>
              <a:t>•   All five artifacts reproduce numerically at published precision on every platform tested.</a:t>
            </a:r>
            <a:endParaRPr lang="en-US" sz="1250" dirty="0"/>
          </a:p>
        </p:txBody>
      </p:sp>
      <p:sp>
        <p:nvSpPr>
          <p:cNvPr id="14" name="Text 12"/>
          <p:cNvSpPr/>
          <p:nvPr/>
        </p:nvSpPr>
        <p:spPr>
          <a:xfrm>
            <a:off x="640080" y="4462272"/>
            <a:ext cx="10881360" cy="530352"/>
          </a:xfrm>
          <a:prstGeom prst="rect">
            <a:avLst/>
          </a:prstGeom>
          <a:noFill/>
          <a:ln/>
        </p:spPr>
        <p:txBody>
          <a:bodyPr wrap="square" lIns="0" tIns="0" rIns="0" bIns="0" rtlCol="0" anchor="ctr"/>
          <a:lstStyle/>
          <a:p>
            <a:pPr indent="0" marL="0">
              <a:lnSpc>
                <a:spcPts val="1600"/>
              </a:lnSpc>
              <a:buNone/>
            </a:pPr>
            <a:r>
              <a:rPr lang="en-US" sz="1250" dirty="0">
                <a:solidFill>
                  <a:srgbClr val="333333"/>
                </a:solidFill>
                <a:latin typeface="Calibri" pitchFamily="34" charset="0"/>
                <a:ea typeface="Calibri" pitchFamily="34" charset="-122"/>
                <a:cs typeface="Calibri" pitchFamily="34" charset="-120"/>
              </a:rPr>
              <a:t>•   Byte equality holds within a fixed runtime, not across platforms — 5 of 5 byte-identical on Linux 3.10.12, and 3 of 5 on macOS 26.0 arm64 / CPython 3.11.5, measured on these artifacts by an independent audit run.</a:t>
            </a:r>
            <a:endParaRPr lang="en-US" sz="1250" dirty="0"/>
          </a:p>
        </p:txBody>
      </p:sp>
      <p:sp>
        <p:nvSpPr>
          <p:cNvPr id="15" name="Text 13"/>
          <p:cNvSpPr/>
          <p:nvPr/>
        </p:nvSpPr>
        <p:spPr>
          <a:xfrm>
            <a:off x="640080" y="4992624"/>
            <a:ext cx="10881360" cy="530352"/>
          </a:xfrm>
          <a:prstGeom prst="rect">
            <a:avLst/>
          </a:prstGeom>
          <a:noFill/>
          <a:ln/>
        </p:spPr>
        <p:txBody>
          <a:bodyPr wrap="square" lIns="0" tIns="0" rIns="0" bIns="0" rtlCol="0" anchor="ctr"/>
          <a:lstStyle/>
          <a:p>
            <a:pPr indent="0" marL="0">
              <a:lnSpc>
                <a:spcPts val="1600"/>
              </a:lnSpc>
              <a:buNone/>
            </a:pPr>
            <a:r>
              <a:rPr lang="en-US" sz="1250" dirty="0">
                <a:solidFill>
                  <a:srgbClr val="333333"/>
                </a:solidFill>
                <a:latin typeface="Calibri" pitchFamily="34" charset="0"/>
                <a:ea typeface="Calibri" pitchFamily="34" charset="-122"/>
                <a:cs typeface="Calibri" pitchFamily="34" charset="-120"/>
              </a:rPr>
              <a:t>•   An earlier claim of unqualified byte-for-byte reproducibility rested on a step that re-hashed the committed file rather than regenerating it. Both the claim and the evidence were corrected.</a:t>
            </a:r>
            <a:endParaRPr lang="en-US" sz="1250" dirty="0"/>
          </a:p>
        </p:txBody>
      </p:sp>
      <p:sp>
        <p:nvSpPr>
          <p:cNvPr id="16" name="Text 14"/>
          <p:cNvSpPr/>
          <p:nvPr/>
        </p:nvSpPr>
        <p:spPr>
          <a:xfrm>
            <a:off x="640080" y="5715000"/>
            <a:ext cx="10881360" cy="548640"/>
          </a:xfrm>
          <a:prstGeom prst="rect">
            <a:avLst/>
          </a:prstGeom>
          <a:noFill/>
          <a:ln/>
        </p:spPr>
        <p:txBody>
          <a:bodyPr wrap="square" lIns="0" tIns="0" rIns="0" bIns="0" rtlCol="0" anchor="ctr"/>
          <a:lstStyle/>
          <a:p>
            <a:pPr indent="0" marL="0">
              <a:lnSpc>
                <a:spcPts val="1500"/>
              </a:lnSpc>
              <a:buNone/>
            </a:pPr>
            <a:r>
              <a:rPr lang="en-US" sz="1100" i="1" dirty="0">
                <a:solidFill>
                  <a:srgbClr val="6B6B6B"/>
                </a:solidFill>
                <a:latin typeface="Calibri" pitchFamily="34" charset="0"/>
                <a:ea typeface="Calibri" pitchFamily="34" charset="-122"/>
                <a:cs typeface="Calibri" pitchFamily="34" charset="-120"/>
              </a:rPr>
              <a:t>Scope: simulation results are artifact-backed. Analytical results are derivation-backed and external facts are literature-backed; neither is covered by the checksum table. The 1,138 figure is non-browser: 495 backend and 643 simulation. Nine browser checks are defined and excluded from it. They were rewritten in this pass and have NOT executed since — Chromium is unavailable here, so they skip, and a skip is not a pass. Browser execution is an open external gate.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1463040"/>
            <a:ext cx="105156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would change the conclusion</a:t>
            </a:r>
            <a:endParaRPr lang="en-US" sz="3200" dirty="0"/>
          </a:p>
        </p:txBody>
      </p:sp>
      <p:sp>
        <p:nvSpPr>
          <p:cNvPr id="3" name="Shape 1"/>
          <p:cNvSpPr/>
          <p:nvPr/>
        </p:nvSpPr>
        <p:spPr>
          <a:xfrm>
            <a:off x="822960" y="2331720"/>
            <a:ext cx="1463040" cy="41148"/>
          </a:xfrm>
          <a:prstGeom prst="rect">
            <a:avLst/>
          </a:prstGeom>
          <a:solidFill>
            <a:srgbClr val="0072B2"/>
          </a:solidFill>
          <a:ln/>
        </p:spPr>
      </p:sp>
      <p:sp>
        <p:nvSpPr>
          <p:cNvPr id="4" name="Text 2"/>
          <p:cNvSpPr/>
          <p:nvPr/>
        </p:nvSpPr>
        <p:spPr>
          <a:xfrm>
            <a:off x="822960" y="2743200"/>
            <a:ext cx="10515600" cy="2194560"/>
          </a:xfrm>
          <a:prstGeom prst="rect">
            <a:avLst/>
          </a:prstGeom>
          <a:noFill/>
          <a:ln/>
        </p:spPr>
        <p:txBody>
          <a:bodyPr wrap="square" lIns="0" tIns="0" rIns="0" bIns="0" rtlCol="0" anchor="ctr"/>
          <a:lstStyle/>
          <a:p>
            <a:pPr indent="0" marL="0">
              <a:lnSpc>
                <a:spcPts val="2400"/>
              </a:lnSpc>
              <a:buNone/>
            </a:pPr>
            <a:r>
              <a:rPr lang="en-US" sz="1600" dirty="0">
                <a:solidFill>
                  <a:srgbClr val="D8D8D8"/>
                </a:solidFill>
                <a:latin typeface="Calibri" pitchFamily="34" charset="0"/>
                <a:ea typeface="Calibri" pitchFamily="34" charset="-122"/>
                <a:cs typeface="Calibri" pitchFamily="34" charset="-120"/>
              </a:rPr>
              <a:t>Observed seller revenue paired with adjudicated repayment outcomes would let us calibrate the revenue process and check whether the simulated magnitudes resemble anything real.</a:t>
            </a:r>
            <a:endParaRPr lang="en-US" sz="1600" dirty="0"/>
          </a:p>
          <a:p>
            <a:pPr indent="0" marL="0">
              <a:lnSpc>
                <a:spcPts val="2400"/>
              </a:lnSpc>
              <a:buNone/>
            </a:pPr>
            <a:endParaRPr lang="en-US" sz="1600" dirty="0"/>
          </a:p>
          <a:p>
            <a:pPr indent="0" marL="0">
              <a:lnSpc>
                <a:spcPts val="2400"/>
              </a:lnSpc>
              <a:buNone/>
            </a:pPr>
            <a:r>
              <a:rPr lang="en-US" sz="1600" dirty="0">
                <a:solidFill>
                  <a:srgbClr val="D8D8D8"/>
                </a:solidFill>
                <a:latin typeface="Calibri" pitchFamily="34" charset="0"/>
                <a:ea typeface="Calibri" pitchFamily="34" charset="-122"/>
                <a:cs typeface="Calibri" pitchFamily="34" charset="-120"/>
              </a:rPr>
              <a:t>It would not, on its own, deliver this comparison. Observational data cannot show both contracts on the same seller under the same realised path, because each seller takes at most one. That would still need randomisation, a credible quasi-experimental design, or a structural counterfactual.</a:t>
            </a:r>
            <a:endParaRPr lang="en-US" sz="1600" dirty="0"/>
          </a:p>
        </p:txBody>
      </p:sp>
      <p:sp>
        <p:nvSpPr>
          <p:cNvPr id="5" name="Text 3"/>
          <p:cNvSpPr/>
          <p:nvPr/>
        </p:nvSpPr>
        <p:spPr>
          <a:xfrm>
            <a:off x="822960" y="5166360"/>
            <a:ext cx="1051560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Calibration and causal identification are different problems. Observed data solves only the first.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Independent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Revenue-Contingent Financing Under Volatile Sales: Separating Price from Structure</dc:title>
  <dc:subject>Paired simulation study of revenue-contingent versus cost-matched fixed-instalment small-business financing</dc:subject>
  <dc:creator>Le Huu Hoang</dc:creator>
  <cp:lastModifiedBy>Le Huu Hoang</cp:lastModifiedBy>
  <cp:revision>1</cp:revision>
  <dcterms:created xsi:type="dcterms:W3CDTF">2026-08-26T14:59:05Z</dcterms:created>
  <dcterms:modified xsi:type="dcterms:W3CDTF">2026-08-26T14:59:05Z</dcterms:modified>
</cp:coreProperties>
</file>