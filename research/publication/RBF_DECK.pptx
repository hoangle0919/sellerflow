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Seller: months above a 15% burden band</a:t>
            </a:r>
          </a:p>
        </c:rich>
      </c:tx>
      <c:layout/>
      <c:overlay val="0"/>
    </c:title>
    <c:autoTitleDeleted val="0"/>
    <c:plotArea>
      <c:layout/>
      <c:barChart>
        <c:barDir val="col"/>
        <c:grouping val="clustered"/>
        <c:varyColors val="0"/>
        <c:ser>
          <c:idx val="0"/>
          <c:order val="0"/>
          <c:tx>
            <c:strRef>
              <c:f>Sheet1!$B$1</c:f>
              <c:strCache>
                <c:ptCount val="1"/>
                <c:pt idx="0">
                  <c:v>Months above 15% burden</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0</c:v>
                </c:pt>
                <c:pt idx="1">
                  <c:v>6.85</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Provider: share of target recovered by month 12</a:t>
            </a:r>
          </a:p>
        </c:rich>
      </c:tx>
      <c:layout/>
      <c:overlay val="0"/>
    </c:title>
    <c:autoTitleDeleted val="0"/>
    <c:plotArea>
      <c:layout/>
      <c:barChart>
        <c:barDir val="col"/>
        <c:grouping val="clustered"/>
        <c:varyColors val="0"/>
        <c:ser>
          <c:idx val="0"/>
          <c:order val="0"/>
          <c:tx>
            <c:strRef>
              <c:f>Sheet1!$B$1</c:f>
              <c:strCache>
                <c:ptCount val="1"/>
                <c:pt idx="0">
                  <c:v>Recovery by month 12 (%)</c:v>
                </c:pt>
              </c:strCache>
            </c:strRef>
          </c:tx>
          <c:spPr>
            <a:solidFill>
              <a:srgbClr val="0072B2"/>
            </a:solidFill>
            <a:effectLst/>
          </c:spPr>
          <c:invertIfNegative val="0"/>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E69F00"/>
              </a:solidFill>
              <a:effectLst/>
            </c:spPr>
          </c:dPt>
          <c:cat>
            <c:multiLvlStrRef>
              <c:f>Sheet1!$A$2:$A$3</c:f>
              <c:multiLvlStrCache>
                <c:ptCount val="2"/>
                <c:lvl>
                  <c:pt idx="0">
                    <c:v>Revenue-contingent</c:v>
                  </c:pt>
                  <c:pt idx="1">
                    <c:v>Matched fixed</c:v>
                  </c:pt>
                </c:lvl>
              </c:multiLvlStrCache>
            </c:multiLvlStrRef>
          </c:cat>
          <c:val>
            <c:numRef>
              <c:f>Sheet1!$B$2:$B$3</c:f>
              <c:numCache>
                <c:formatCode>General</c:formatCode>
                <c:ptCount val="2"/>
                <c:pt idx="0">
                  <c:v>65.46</c:v>
                </c:pt>
                <c:pt idx="1">
                  <c:v>92.31</c:v>
                </c:pt>
              </c:numCache>
            </c:numRef>
          </c:val>
        </c:ser>
        <c:dLbls>
          <c:numFmt formatCode="0.00" sourceLinked="0"/>
          <c:txPr>
            <a:bodyPr/>
            <a:lstStyle/>
            <a:p>
              <a:pPr>
                <a:defRPr b="0" i="0" strike="noStrike" sz="13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1A"/>
                </a:solidFill>
                <a:latin typeface="Arial"/>
              </a:defRPr>
            </a:pPr>
            <a:r>
              <a:rPr sz="1300" b="0" i="0" u="none" strike="noStrike">
                <a:solidFill>
                  <a:srgbClr val="1A1A1A"/>
                </a:solidFill>
                <a:latin typeface="Arial"/>
              </a:rPr>
              <a:t>Share of simulated paths not reaching the contractual target (%)</a:t>
            </a:r>
          </a:p>
        </c:rich>
      </c:tx>
      <c:layout/>
      <c:overlay val="0"/>
    </c:title>
    <c:autoTitleDeleted val="0"/>
    <c:plotArea>
      <c:layout/>
      <c:barChart>
        <c:barDir val="col"/>
        <c:grouping val="clustered"/>
        <c:varyColors val="0"/>
        <c:ser>
          <c:idx val="0"/>
          <c:order val="0"/>
          <c:tx>
            <c:strRef>
              <c:f>Sheet1!$B$1</c:f>
              <c:strCache>
                <c:ptCount val="1"/>
                <c:pt idx="0">
                  <c:v>f = 1.20</c:v>
                </c:pt>
              </c:strCache>
            </c:strRef>
          </c:tx>
          <c:spPr>
            <a:solidFill>
              <a:srgbClr val="0072B2"/>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Sheet1!$B$2:$B$4</c:f>
              <c:numCache>
                <c:formatCode>General</c:formatCode>
                <c:ptCount val="3"/>
                <c:pt idx="0">
                  <c:v>100</c:v>
                </c:pt>
                <c:pt idx="1">
                  <c:v>76.2</c:v>
                </c:pt>
                <c:pt idx="2">
                  <c:v>2</c:v>
                </c:pt>
              </c:numCache>
            </c:numRef>
          </c:val>
        </c:ser>
        <c:ser>
          <c:idx val="1"/>
          <c:order val="1"/>
          <c:tx>
            <c:strRef>
              <c:f>Sheet1!$C$1</c:f>
              <c:strCache>
                <c:ptCount val="1"/>
                <c:pt idx="0">
                  <c:v>f* = 1.0945</c:v>
                </c:pt>
              </c:strCache>
            </c:strRef>
          </c:tx>
          <c:spPr>
            <a:solidFill>
              <a:srgbClr val="009E73"/>
            </a:solidFill>
            <a:effectLst/>
          </c:spPr>
          <c:invertIfNegative val="0"/>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Closure, month 7</c:v>
                  </c:pt>
                  <c:pt idx="1">
                    <c:v>Closure, month 13</c:v>
                  </c:pt>
                  <c:pt idx="2">
                    <c:v>Temporary closure</c:v>
                  </c:pt>
                </c:lvl>
              </c:multiLvlStrCache>
            </c:multiLvlStrRef>
          </c:cat>
          <c:val>
            <c:numRef>
              <c:f>Sheet1!$C$2:$C$4</c:f>
              <c:numCache>
                <c:formatCode>General</c:formatCode>
                <c:ptCount val="3"/>
                <c:pt idx="0">
                  <c:v>100</c:v>
                </c:pt>
                <c:pt idx="1">
                  <c:v>7.6</c:v>
                </c:pt>
                <c:pt idx="2">
                  <c:v>0</c:v>
                </c:pt>
              </c:numCache>
            </c:numRef>
          </c:val>
        </c:ser>
        <c:dLbls>
          <c:numFmt formatCode="0.0" sourceLinked="0"/>
          <c:txPr>
            <a:bodyPr/>
            <a:lstStyle/>
            <a:p>
              <a:pPr>
                <a:defRPr b="0" i="0" strike="noStrike" sz="1200" u="none">
                  <a:solidFill>
                    <a:srgbClr val="1A1A1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this is a study of contract mechanics, not a claim about sellers. Say the disclaimer out loud — it is the reason the rest is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argument in one slide. The two cards are the same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the negative claim. It is scoped to our searches, and that scoping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Matched on the reference path means principal, total and term are equal — so the comparison isolates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show the left chart without the right one. That pairing is the paper's central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Both halves of the last line matter — separable is not the same as outcome-independent.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Interviewers respond well to this slide. It demonstrates the discipline rather than asserting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price effect: closure_m13 falls from 76.2% to 7.6% on the cap factor alone. Same structure, nearer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the headline failure rate being misread as a loss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Reporting the 11.99 without the 76.2% would invert the finding. Survivor statistics describe the contracts that finished, not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section out loud in any interview. The restraint is the credential.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reproducibility claim is a better credential than the overstated one would have 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limitation, not on the result. It is the most defensible note to end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737360"/>
            <a:ext cx="10515600" cy="17373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Revenue-Contingent Financing</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Under Volatile Sales</a:t>
            </a:r>
            <a:endParaRPr lang="en-US" sz="4000" dirty="0"/>
          </a:p>
        </p:txBody>
      </p:sp>
      <p:sp>
        <p:nvSpPr>
          <p:cNvPr id="3" name="Text 1"/>
          <p:cNvSpPr/>
          <p:nvPr/>
        </p:nvSpPr>
        <p:spPr>
          <a:xfrm>
            <a:off x="822960" y="3566160"/>
            <a:ext cx="10515600" cy="457200"/>
          </a:xfrm>
          <a:prstGeom prst="rect">
            <a:avLst/>
          </a:prstGeom>
          <a:noFill/>
          <a:ln/>
        </p:spPr>
        <p:txBody>
          <a:bodyPr wrap="square" lIns="0" tIns="0" rIns="0" bIns="0" rtlCol="0" anchor="ctr"/>
          <a:lstStyle/>
          <a:p>
            <a:pPr indent="0" marL="0">
              <a:buNone/>
            </a:pPr>
            <a:r>
              <a:rPr lang="en-US" sz="1900" dirty="0">
                <a:solidFill>
                  <a:srgbClr val="CFCFCF"/>
                </a:solidFill>
                <a:latin typeface="Calibri" pitchFamily="34" charset="0"/>
                <a:ea typeface="Calibri" pitchFamily="34" charset="-122"/>
                <a:cs typeface="Calibri" pitchFamily="34" charset="-120"/>
              </a:rPr>
              <a:t>Separating price from structure in a paired simulation study</a:t>
            </a:r>
            <a:endParaRPr lang="en-US" sz="1900" dirty="0"/>
          </a:p>
        </p:txBody>
      </p:sp>
      <p:sp>
        <p:nvSpPr>
          <p:cNvPr id="4" name="Shape 2"/>
          <p:cNvSpPr/>
          <p:nvPr/>
        </p:nvSpPr>
        <p:spPr>
          <a:xfrm>
            <a:off x="822960" y="4297680"/>
            <a:ext cx="1463040" cy="41148"/>
          </a:xfrm>
          <a:prstGeom prst="rect">
            <a:avLst/>
          </a:prstGeom>
          <a:solidFill>
            <a:srgbClr val="0072B2"/>
          </a:solidFill>
          <a:ln/>
        </p:spPr>
      </p:sp>
      <p:sp>
        <p:nvSpPr>
          <p:cNvPr id="5" name="Text 3"/>
          <p:cNvSpPr/>
          <p:nvPr/>
        </p:nvSpPr>
        <p:spPr>
          <a:xfrm>
            <a:off x="822960" y="4663440"/>
            <a:ext cx="10515600" cy="731520"/>
          </a:xfrm>
          <a:prstGeom prst="rect">
            <a:avLst/>
          </a:prstGeom>
          <a:noFill/>
          <a:ln/>
        </p:spPr>
        <p:txBody>
          <a:bodyPr wrap="square" lIns="0" tIns="0" rIns="0" bIns="0" rtlCol="0" anchor="ctr"/>
          <a:lstStyle/>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All figures are simulation output under modelled assumptions.</a:t>
            </a:r>
            <a:endParaRPr lang="en-US" sz="1300" dirty="0"/>
          </a:p>
          <a:p>
            <a:pPr indent="0" marL="0">
              <a:lnSpc>
                <a:spcPts val="2000"/>
              </a:lnSpc>
              <a:buNone/>
            </a:pPr>
            <a:r>
              <a:rPr lang="en-US" sz="1300" dirty="0">
                <a:solidFill>
                  <a:srgbClr val="9A9A9A"/>
                </a:solidFill>
                <a:latin typeface="Calibri" pitchFamily="34" charset="0"/>
                <a:ea typeface="Calibri" pitchFamily="34" charset="-122"/>
                <a:cs typeface="Calibri" pitchFamily="34" charset="-120"/>
              </a:rPr>
              <a:t>No observed seller revenue, repayment or default outcome exists in this study.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One mechanism, seen from two sides</a:t>
            </a:r>
            <a:endParaRPr lang="en-US" sz="3200" dirty="0"/>
          </a:p>
        </p:txBody>
      </p:sp>
      <p:sp>
        <p:nvSpPr>
          <p:cNvPr id="3" name="Shape 1"/>
          <p:cNvSpPr/>
          <p:nvPr/>
        </p:nvSpPr>
        <p:spPr>
          <a:xfrm>
            <a:off x="640080" y="1645920"/>
            <a:ext cx="5120640" cy="2514600"/>
          </a:xfrm>
          <a:prstGeom prst="roundRect">
            <a:avLst>
              <a:gd name="adj" fmla="val 2909"/>
            </a:avLst>
          </a:prstGeom>
          <a:solidFill>
            <a:srgbClr val="FAFAFA"/>
          </a:solidFill>
          <a:ln w="12700">
            <a:solidFill>
              <a:srgbClr val="D8D8D8"/>
            </a:solidFill>
            <a:prstDash val="solid"/>
          </a:ln>
        </p:spPr>
      </p:sp>
      <p:sp>
        <p:nvSpPr>
          <p:cNvPr id="4" name="Shape 2"/>
          <p:cNvSpPr/>
          <p:nvPr/>
        </p:nvSpPr>
        <p:spPr>
          <a:xfrm>
            <a:off x="1051560" y="1920240"/>
            <a:ext cx="457200" cy="457200"/>
          </a:xfrm>
          <a:prstGeom prst="ellipse">
            <a:avLst/>
          </a:prstGeom>
          <a:solidFill>
            <a:srgbClr val="0072B2"/>
          </a:solidFill>
          <a:ln/>
        </p:spPr>
      </p:sp>
      <p:sp>
        <p:nvSpPr>
          <p:cNvPr id="5" name="Text 3"/>
          <p:cNvSpPr/>
          <p:nvPr/>
        </p:nvSpPr>
        <p:spPr>
          <a:xfrm>
            <a:off x="166420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seller</a:t>
            </a:r>
            <a:endParaRPr lang="en-US" sz="1900" dirty="0"/>
          </a:p>
        </p:txBody>
      </p:sp>
      <p:sp>
        <p:nvSpPr>
          <p:cNvPr id="6" name="Text 4"/>
          <p:cNvSpPr/>
          <p:nvPr/>
        </p:nvSpPr>
        <p:spPr>
          <a:xfrm>
            <a:off x="105156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Each payment is a fixed share of revenue, so the payment falls when revenue falls. Under adverse paths the payment burden stays roughly flat.</a:t>
            </a:r>
            <a:endParaRPr lang="en-US" sz="1450" dirty="0"/>
          </a:p>
        </p:txBody>
      </p:sp>
      <p:sp>
        <p:nvSpPr>
          <p:cNvPr id="7" name="Shape 5"/>
          <p:cNvSpPr/>
          <p:nvPr/>
        </p:nvSpPr>
        <p:spPr>
          <a:xfrm>
            <a:off x="6400800" y="1645920"/>
            <a:ext cx="5120640" cy="2514600"/>
          </a:xfrm>
          <a:prstGeom prst="roundRect">
            <a:avLst>
              <a:gd name="adj" fmla="val 2909"/>
            </a:avLst>
          </a:prstGeom>
          <a:solidFill>
            <a:srgbClr val="FAFAFA"/>
          </a:solidFill>
          <a:ln w="12700">
            <a:solidFill>
              <a:srgbClr val="D8D8D8"/>
            </a:solidFill>
            <a:prstDash val="solid"/>
          </a:ln>
        </p:spPr>
      </p:sp>
      <p:sp>
        <p:nvSpPr>
          <p:cNvPr id="8" name="Shape 6"/>
          <p:cNvSpPr/>
          <p:nvPr/>
        </p:nvSpPr>
        <p:spPr>
          <a:xfrm>
            <a:off x="6812280" y="1920240"/>
            <a:ext cx="457200" cy="457200"/>
          </a:xfrm>
          <a:prstGeom prst="ellipse">
            <a:avLst/>
          </a:prstGeom>
          <a:solidFill>
            <a:srgbClr val="D55E00"/>
          </a:solidFill>
          <a:ln/>
        </p:spPr>
      </p:sp>
      <p:sp>
        <p:nvSpPr>
          <p:cNvPr id="9" name="Text 7"/>
          <p:cNvSpPr/>
          <p:nvPr/>
        </p:nvSpPr>
        <p:spPr>
          <a:xfrm>
            <a:off x="7424928" y="1956816"/>
            <a:ext cx="3840480" cy="384048"/>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For the financier</a:t>
            </a:r>
            <a:endParaRPr lang="en-US" sz="1900" dirty="0"/>
          </a:p>
        </p:txBody>
      </p:sp>
      <p:sp>
        <p:nvSpPr>
          <p:cNvPr id="10" name="Text 8"/>
          <p:cNvSpPr/>
          <p:nvPr/>
        </p:nvSpPr>
        <p:spPr>
          <a:xfrm>
            <a:off x="6812280" y="2487168"/>
            <a:ext cx="4389120" cy="1463040"/>
          </a:xfrm>
          <a:prstGeom prst="rect">
            <a:avLst/>
          </a:prstGeom>
          <a:noFill/>
          <a:ln/>
        </p:spPr>
        <p:txBody>
          <a:bodyPr wrap="square" lIns="0" tIns="0" rIns="0" bIns="0" rtlCol="0" anchor="ctr"/>
          <a:lstStyle/>
          <a:p>
            <a:pPr indent="0" marL="0">
              <a:lnSpc>
                <a:spcPts val="2200"/>
              </a:lnSpc>
              <a:buNone/>
            </a:pPr>
            <a:r>
              <a:rPr lang="en-US" sz="1450" dirty="0">
                <a:solidFill>
                  <a:srgbClr val="333333"/>
                </a:solidFill>
                <a:latin typeface="Calibri" pitchFamily="34" charset="0"/>
                <a:ea typeface="Calibri" pitchFamily="34" charset="-122"/>
                <a:cs typeface="Calibri" pitchFamily="34" charset="-120"/>
              </a:rPr>
              <a:t>The same mechanism delays recovery, and where revenue stops before the cap is reached, a contractual balance goes unrecovered.</a:t>
            </a:r>
            <a:endParaRPr lang="en-US" sz="1450" dirty="0"/>
          </a:p>
        </p:txBody>
      </p:sp>
      <p:sp>
        <p:nvSpPr>
          <p:cNvPr id="11" name="Text 9"/>
          <p:cNvSpPr/>
          <p:nvPr/>
        </p:nvSpPr>
        <p:spPr>
          <a:xfrm>
            <a:off x="640080" y="4572000"/>
            <a:ext cx="10881360" cy="45720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Reporting either side alone misstates the contract. This paper reports both, always.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Why a simulation, and what it costs</a:t>
            </a:r>
            <a:endParaRPr lang="en-US" sz="3200" dirty="0"/>
          </a:p>
        </p:txBody>
      </p:sp>
      <p:sp>
        <p:nvSpPr>
          <p:cNvPr id="3" name="Text 1"/>
          <p:cNvSpPr/>
          <p:nvPr/>
        </p:nvSpPr>
        <p:spPr>
          <a:xfrm>
            <a:off x="640080" y="1600200"/>
            <a:ext cx="6675120" cy="1234440"/>
          </a:xfrm>
          <a:prstGeom prst="rect">
            <a:avLst/>
          </a:prstGeom>
          <a:noFill/>
          <a:ln/>
        </p:spPr>
        <p:txBody>
          <a:bodyPr wrap="square" lIns="0" tIns="0" rIns="0" bIns="0" rtlCol="0" anchor="ctr"/>
          <a:lstStyle/>
          <a:p>
            <a:pPr indent="0" marL="0">
              <a:lnSpc>
                <a:spcPts val="2200"/>
              </a:lnSpc>
              <a:buNone/>
            </a:pPr>
            <a:r>
              <a:rPr lang="en-US" sz="1500" b="1" dirty="0">
                <a:solidFill>
                  <a:srgbClr val="333333"/>
                </a:solidFill>
                <a:latin typeface="Calibri" pitchFamily="34" charset="0"/>
                <a:ea typeface="Calibri" pitchFamily="34" charset="-122"/>
                <a:cs typeface="Calibri" pitchFamily="34" charset="-120"/>
              </a:rPr>
              <a:t>The question needs a counterfactual that does not exist.</a:t>
            </a:r>
            <a:endParaRPr lang="en-US" sz="1500" dirty="0"/>
          </a:p>
          <a:p>
            <a:pPr indent="0" marL="0">
              <a:lnSpc>
                <a:spcPts val="2200"/>
              </a:lnSpc>
              <a:buNone/>
            </a:pPr>
            <a:r>
              <a:rPr lang="en-US" sz="1500" dirty="0">
                <a:solidFill>
                  <a:srgbClr val="333333"/>
                </a:solidFill>
                <a:latin typeface="Calibri" pitchFamily="34" charset="0"/>
                <a:ea typeface="Calibri" pitchFamily="34" charset="-122"/>
                <a:cs typeface="Calibri" pitchFamily="34" charset="-120"/>
              </a:rPr>
              <a:t>Comparing seller burden and provider recovery under two contracts requires observing both contracts on the same seller, over the same realised revenue. Each seller takes at most one contract.</a:t>
            </a:r>
            <a:endParaRPr lang="en-US" sz="1500" dirty="0"/>
          </a:p>
        </p:txBody>
      </p:sp>
      <p:sp>
        <p:nvSpPr>
          <p:cNvPr id="4" name="Text 2"/>
          <p:cNvSpPr/>
          <p:nvPr/>
        </p:nvSpPr>
        <p:spPr>
          <a:xfrm>
            <a:off x="640080" y="2926080"/>
            <a:ext cx="6675120" cy="256032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333333"/>
                </a:solidFill>
                <a:latin typeface="Calibri" pitchFamily="34" charset="0"/>
                <a:ea typeface="Calibri" pitchFamily="34" charset="-122"/>
                <a:cs typeface="Calibri" pitchFamily="34" charset="-120"/>
              </a:rPr>
              <a:t>A paired design supplies it by construction</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every arm runs on the identical generated path; all comparisons are within-path</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500 paths per scenario, fixed seeds, specification frozen before any outcome analysis</a:t>
            </a:r>
            <a:endParaRPr lang="en-US" sz="1400" dirty="0"/>
          </a:p>
          <a:p>
            <a:pPr marL="342900" indent="-342900">
              <a:spcAft>
                <a:spcPts val="800"/>
              </a:spcAft>
              <a:buSzPct val="100000"/>
              <a:buChar char="•"/>
            </a:pPr>
            <a:r>
              <a:rPr lang="en-US" sz="1400" dirty="0">
                <a:solidFill>
                  <a:srgbClr val="333333"/>
                </a:solidFill>
                <a:latin typeface="Calibri" pitchFamily="34" charset="0"/>
                <a:ea typeface="Calibri" pitchFamily="34" charset="-122"/>
                <a:cs typeface="Calibri" pitchFamily="34" charset="-120"/>
              </a:rPr>
              <a:t>the cost: the revenue process is one we specified — results describe contract mechanics, not seller behaviour</a:t>
            </a:r>
            <a:endParaRPr lang="en-US" sz="1400" dirty="0"/>
          </a:p>
        </p:txBody>
      </p:sp>
      <p:sp>
        <p:nvSpPr>
          <p:cNvPr id="5" name="Shape 3"/>
          <p:cNvSpPr/>
          <p:nvPr/>
        </p:nvSpPr>
        <p:spPr>
          <a:xfrm>
            <a:off x="7772400" y="1600200"/>
            <a:ext cx="3749040" cy="3931920"/>
          </a:xfrm>
          <a:prstGeom prst="roundRect">
            <a:avLst>
              <a:gd name="adj" fmla="val 1951"/>
            </a:avLst>
          </a:prstGeom>
          <a:solidFill>
            <a:srgbClr val="F4F4F4"/>
          </a:solidFill>
          <a:ln w="12700">
            <a:solidFill>
              <a:srgbClr val="D8D8D8"/>
            </a:solidFill>
            <a:prstDash val="solid"/>
          </a:ln>
        </p:spPr>
      </p:sp>
      <p:sp>
        <p:nvSpPr>
          <p:cNvPr id="6" name="Text 4"/>
          <p:cNvSpPr/>
          <p:nvPr/>
        </p:nvSpPr>
        <p:spPr>
          <a:xfrm>
            <a:off x="8092440" y="1828800"/>
            <a:ext cx="3108960" cy="365760"/>
          </a:xfrm>
          <a:prstGeom prst="rect">
            <a:avLst/>
          </a:prstGeom>
          <a:noFill/>
          <a:ln/>
        </p:spPr>
        <p:txBody>
          <a:bodyPr wrap="square" lIns="0" tIns="0" rIns="0" bIns="0" rtlCol="0" anchor="ctr"/>
          <a:lstStyle/>
          <a:p>
            <a:pPr indent="0" marL="0">
              <a:buNone/>
            </a:pPr>
            <a:r>
              <a:rPr lang="en-US" sz="1400" b="1" dirty="0">
                <a:solidFill>
                  <a:srgbClr val="1A1A1A"/>
                </a:solidFill>
                <a:latin typeface="Cambria" pitchFamily="34" charset="0"/>
                <a:ea typeface="Cambria" pitchFamily="34" charset="-122"/>
                <a:cs typeface="Cambria" pitchFamily="34" charset="-120"/>
              </a:rPr>
              <a:t>What we searched for and did not find</a:t>
            </a:r>
            <a:endParaRPr lang="en-US" sz="1400" dirty="0"/>
          </a:p>
        </p:txBody>
      </p:sp>
      <p:sp>
        <p:nvSpPr>
          <p:cNvPr id="7" name="Text 5"/>
          <p:cNvSpPr/>
          <p:nvPr/>
        </p:nvSpPr>
        <p:spPr>
          <a:xfrm>
            <a:off x="8092440" y="2286000"/>
            <a:ext cx="3108960" cy="2468880"/>
          </a:xfrm>
          <a:prstGeom prst="rect">
            <a:avLst/>
          </a:prstGeom>
          <a:noFill/>
          <a:ln/>
        </p:spPr>
        <p:txBody>
          <a:bodyPr wrap="square" lIns="0" tIns="0" rIns="0" bIns="0" rtlCol="0" anchor="ctr"/>
          <a:lstStyle/>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head-to-head comparison of seller burden and provider recovery under revenue-contingent versus cost-matched fixed schedules for small-business financing.</a:t>
            </a:r>
            <a:endParaRPr lang="en-US" sz="1200" dirty="0"/>
          </a:p>
          <a:p>
            <a:pPr indent="0" marL="0">
              <a:lnSpc>
                <a:spcPts val="1700"/>
              </a:lnSpc>
              <a:spcAft>
                <a:spcPts val="800"/>
              </a:spcAft>
              <a:buNone/>
            </a:pPr>
            <a:r>
              <a:rPr lang="en-US" sz="1200" dirty="0">
                <a:solidFill>
                  <a:srgbClr val="333333"/>
                </a:solidFill>
                <a:latin typeface="Calibri" pitchFamily="34" charset="0"/>
                <a:ea typeface="Calibri" pitchFamily="34" charset="-122"/>
                <a:cs typeface="Calibri" pitchFamily="34" charset="-120"/>
              </a:rPr>
              <a:t>No peer-reviewed study of the US merchant cash advance market.</a:t>
            </a:r>
            <a:endParaRPr lang="en-US" sz="1200" dirty="0"/>
          </a:p>
        </p:txBody>
      </p:sp>
      <p:sp>
        <p:nvSpPr>
          <p:cNvPr id="8" name="Text 6"/>
          <p:cNvSpPr/>
          <p:nvPr/>
        </p:nvSpPr>
        <p:spPr>
          <a:xfrm>
            <a:off x="8092440" y="4892040"/>
            <a:ext cx="3108960" cy="548640"/>
          </a:xfrm>
          <a:prstGeom prst="rect">
            <a:avLst/>
          </a:prstGeom>
          <a:noFill/>
          <a:ln/>
        </p:spPr>
        <p:txBody>
          <a:bodyPr wrap="square" lIns="0" tIns="0" rIns="0" bIns="0" rtlCol="0" anchor="ctr"/>
          <a:lstStyle/>
          <a:p>
            <a:pPr indent="0" marL="0">
              <a:buNone/>
            </a:pPr>
            <a:r>
              <a:rPr lang="en-US" sz="1000" i="1" dirty="0">
                <a:solidFill>
                  <a:srgbClr val="6B6B6B"/>
                </a:solidFill>
                <a:latin typeface="Calibri" pitchFamily="34" charset="0"/>
                <a:ea typeface="Calibri" pitchFamily="34" charset="-122"/>
                <a:cs typeface="Calibri" pitchFamily="34" charset="-120"/>
              </a:rPr>
              <a:t>Scoped to searches documented through 2026-08-13 — a statement about our searches, not about the field.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Three arms, matched on cost</a:t>
            </a:r>
            <a:endParaRPr lang="en-US" sz="3200" dirty="0"/>
          </a:p>
        </p:txBody>
      </p:sp>
      <p:sp>
        <p:nvSpPr>
          <p:cNvPr id="3" name="Shape 1"/>
          <p:cNvSpPr/>
          <p:nvPr/>
        </p:nvSpPr>
        <p:spPr>
          <a:xfrm>
            <a:off x="640080" y="1691640"/>
            <a:ext cx="3383280" cy="3017520"/>
          </a:xfrm>
          <a:prstGeom prst="roundRect">
            <a:avLst>
              <a:gd name="adj" fmla="val 2424"/>
            </a:avLst>
          </a:prstGeom>
          <a:solidFill>
            <a:srgbClr val="FAFAFA"/>
          </a:solidFill>
          <a:ln w="12700">
            <a:solidFill>
              <a:srgbClr val="D8D8D8"/>
            </a:solidFill>
            <a:prstDash val="solid"/>
          </a:ln>
        </p:spPr>
      </p:sp>
      <p:sp>
        <p:nvSpPr>
          <p:cNvPr id="4" name="Shape 2"/>
          <p:cNvSpPr/>
          <p:nvPr/>
        </p:nvSpPr>
        <p:spPr>
          <a:xfrm>
            <a:off x="932688" y="1938528"/>
            <a:ext cx="365760" cy="365760"/>
          </a:xfrm>
          <a:prstGeom prst="ellipse">
            <a:avLst/>
          </a:prstGeom>
          <a:solidFill>
            <a:srgbClr val="0072B2"/>
          </a:solidFill>
          <a:ln/>
        </p:spPr>
      </p:sp>
      <p:sp>
        <p:nvSpPr>
          <p:cNvPr id="5" name="Text 3"/>
          <p:cNvSpPr/>
          <p:nvPr/>
        </p:nvSpPr>
        <p:spPr>
          <a:xfrm>
            <a:off x="144475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Revenue-contingent</a:t>
            </a:r>
            <a:endParaRPr lang="en-US" sz="1600" dirty="0"/>
          </a:p>
        </p:txBody>
      </p:sp>
      <p:sp>
        <p:nvSpPr>
          <p:cNvPr id="6" name="Text 4"/>
          <p:cNvSpPr/>
          <p:nvPr/>
        </p:nvSpPr>
        <p:spPr>
          <a:xfrm>
            <a:off x="93268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Pays r × revenue each month until a cap of A × f is reached.</a:t>
            </a:r>
            <a:endParaRPr lang="en-US" sz="1300" dirty="0"/>
          </a:p>
        </p:txBody>
      </p:sp>
      <p:sp>
        <p:nvSpPr>
          <p:cNvPr id="7" name="Text 5"/>
          <p:cNvSpPr/>
          <p:nvPr/>
        </p:nvSpPr>
        <p:spPr>
          <a:xfrm>
            <a:off x="93268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Cap factor f is the price. r = 0.10.</a:t>
            </a:r>
            <a:endParaRPr lang="en-US" sz="1100" dirty="0"/>
          </a:p>
        </p:txBody>
      </p:sp>
      <p:sp>
        <p:nvSpPr>
          <p:cNvPr id="8" name="Shape 6"/>
          <p:cNvSpPr/>
          <p:nvPr/>
        </p:nvSpPr>
        <p:spPr>
          <a:xfrm>
            <a:off x="4389120" y="1691640"/>
            <a:ext cx="3383280" cy="3017520"/>
          </a:xfrm>
          <a:prstGeom prst="roundRect">
            <a:avLst>
              <a:gd name="adj" fmla="val 2424"/>
            </a:avLst>
          </a:prstGeom>
          <a:solidFill>
            <a:srgbClr val="FAFAFA"/>
          </a:solidFill>
          <a:ln w="12700">
            <a:solidFill>
              <a:srgbClr val="D8D8D8"/>
            </a:solidFill>
            <a:prstDash val="solid"/>
          </a:ln>
        </p:spPr>
      </p:sp>
      <p:sp>
        <p:nvSpPr>
          <p:cNvPr id="9" name="Shape 7"/>
          <p:cNvSpPr/>
          <p:nvPr/>
        </p:nvSpPr>
        <p:spPr>
          <a:xfrm>
            <a:off x="4681728" y="1938528"/>
            <a:ext cx="365760" cy="365760"/>
          </a:xfrm>
          <a:prstGeom prst="ellipse">
            <a:avLst/>
          </a:prstGeom>
          <a:solidFill>
            <a:srgbClr val="E69F00"/>
          </a:solidFill>
          <a:ln/>
        </p:spPr>
      </p:sp>
      <p:sp>
        <p:nvSpPr>
          <p:cNvPr id="10" name="Text 8"/>
          <p:cNvSpPr/>
          <p:nvPr/>
        </p:nvSpPr>
        <p:spPr>
          <a:xfrm>
            <a:off x="519379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Matched fixed</a:t>
            </a:r>
            <a:endParaRPr lang="en-US" sz="1600" dirty="0"/>
          </a:p>
        </p:txBody>
      </p:sp>
      <p:sp>
        <p:nvSpPr>
          <p:cNvPr id="11" name="Text 9"/>
          <p:cNvSpPr/>
          <p:nvPr/>
        </p:nvSpPr>
        <p:spPr>
          <a:xfrm>
            <a:off x="468172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Fixed instalment. Same principal, same total, same term on the reference path.</a:t>
            </a:r>
            <a:endParaRPr lang="en-US" sz="1300" dirty="0"/>
          </a:p>
        </p:txBody>
      </p:sp>
      <p:sp>
        <p:nvSpPr>
          <p:cNvPr id="12" name="Text 10"/>
          <p:cNvSpPr/>
          <p:nvPr/>
        </p:nvSpPr>
        <p:spPr>
          <a:xfrm>
            <a:off x="468172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Only the timing of payments differs. This is the primary comparison.</a:t>
            </a:r>
            <a:endParaRPr lang="en-US" sz="1100" dirty="0"/>
          </a:p>
        </p:txBody>
      </p:sp>
      <p:sp>
        <p:nvSpPr>
          <p:cNvPr id="13" name="Shape 11"/>
          <p:cNvSpPr/>
          <p:nvPr/>
        </p:nvSpPr>
        <p:spPr>
          <a:xfrm>
            <a:off x="8138160" y="1691640"/>
            <a:ext cx="3383280" cy="3017520"/>
          </a:xfrm>
          <a:prstGeom prst="roundRect">
            <a:avLst>
              <a:gd name="adj" fmla="val 2424"/>
            </a:avLst>
          </a:prstGeom>
          <a:solidFill>
            <a:srgbClr val="FAFAFA"/>
          </a:solidFill>
          <a:ln w="12700">
            <a:solidFill>
              <a:srgbClr val="D8D8D8"/>
            </a:solidFill>
            <a:prstDash val="solid"/>
          </a:ln>
        </p:spPr>
      </p:sp>
      <p:sp>
        <p:nvSpPr>
          <p:cNvPr id="14" name="Shape 12"/>
          <p:cNvSpPr/>
          <p:nvPr/>
        </p:nvSpPr>
        <p:spPr>
          <a:xfrm>
            <a:off x="8430768" y="1938528"/>
            <a:ext cx="365760" cy="365760"/>
          </a:xfrm>
          <a:prstGeom prst="ellipse">
            <a:avLst/>
          </a:prstGeom>
          <a:solidFill>
            <a:srgbClr val="009E73"/>
          </a:solidFill>
          <a:ln/>
        </p:spPr>
      </p:sp>
      <p:sp>
        <p:nvSpPr>
          <p:cNvPr id="15" name="Text 13"/>
          <p:cNvSpPr/>
          <p:nvPr/>
        </p:nvSpPr>
        <p:spPr>
          <a:xfrm>
            <a:off x="8942832" y="1947672"/>
            <a:ext cx="2377440" cy="347472"/>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Illustrative reference</a:t>
            </a:r>
            <a:endParaRPr lang="en-US" sz="1600" dirty="0"/>
          </a:p>
        </p:txBody>
      </p:sp>
      <p:sp>
        <p:nvSpPr>
          <p:cNvPr id="16" name="Text 14"/>
          <p:cNvSpPr/>
          <p:nvPr/>
        </p:nvSpPr>
        <p:spPr>
          <a:xfrm>
            <a:off x="8430768" y="2450592"/>
            <a:ext cx="2798064" cy="1051560"/>
          </a:xfrm>
          <a:prstGeom prst="rect">
            <a:avLst/>
          </a:prstGeom>
          <a:noFill/>
          <a:ln/>
        </p:spPr>
        <p:txBody>
          <a:bodyPr wrap="square" lIns="0" tIns="0" rIns="0" bIns="0" rtlCol="0" anchor="ctr"/>
          <a:lstStyle/>
          <a:p>
            <a:pPr indent="0" marL="0">
              <a:lnSpc>
                <a:spcPts val="1900"/>
              </a:lnSpc>
              <a:buNone/>
            </a:pPr>
            <a:r>
              <a:rPr lang="en-US" sz="1300" dirty="0">
                <a:solidFill>
                  <a:srgbClr val="333333"/>
                </a:solidFill>
                <a:latin typeface="Calibri" pitchFamily="34" charset="0"/>
                <a:ea typeface="Calibri" pitchFamily="34" charset="-122"/>
                <a:cs typeface="Calibri" pitchFamily="34" charset="-120"/>
              </a:rPr>
              <a:t>18% nominal, 12-month amortizing schedule.</a:t>
            </a:r>
            <a:endParaRPr lang="en-US" sz="1300" dirty="0"/>
          </a:p>
        </p:txBody>
      </p:sp>
      <p:sp>
        <p:nvSpPr>
          <p:cNvPr id="17" name="Text 15"/>
          <p:cNvSpPr/>
          <p:nvPr/>
        </p:nvSpPr>
        <p:spPr>
          <a:xfrm>
            <a:off x="8430768" y="3584448"/>
            <a:ext cx="2798064" cy="914400"/>
          </a:xfrm>
          <a:prstGeom prst="rect">
            <a:avLst/>
          </a:prstGeom>
          <a:noFill/>
          <a:ln/>
        </p:spPr>
        <p:txBody>
          <a:bodyPr wrap="square" lIns="0" tIns="0" rIns="0" bIns="0" rtlCol="0" anchor="ctr"/>
          <a:lstStyle/>
          <a:p>
            <a:pPr indent="0" marL="0">
              <a:lnSpc>
                <a:spcPts val="1600"/>
              </a:lnSpc>
              <a:buNone/>
            </a:pPr>
            <a:r>
              <a:rPr lang="en-US" sz="1100" i="1" dirty="0">
                <a:solidFill>
                  <a:srgbClr val="6B6B6B"/>
                </a:solidFill>
                <a:latin typeface="Calibri" pitchFamily="34" charset="0"/>
                <a:ea typeface="Calibri" pitchFamily="34" charset="-122"/>
                <a:cs typeface="Calibri" pitchFamily="34" charset="-120"/>
              </a:rPr>
              <a:t>The 18% is an assumed input — not a market rate, not observed.</a:t>
            </a:r>
            <a:endParaRPr lang="en-US" sz="1100" dirty="0"/>
          </a:p>
        </p:txBody>
      </p:sp>
      <p:sp>
        <p:nvSpPr>
          <p:cNvPr id="18" name="Text 16"/>
          <p:cNvSpPr/>
          <p:nvPr/>
        </p:nvSpPr>
        <p:spPr>
          <a:xfrm>
            <a:off x="640080" y="4892040"/>
            <a:ext cx="10881360" cy="457200"/>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At f = 1.20 the matched term is 13 months at 17,076,923 VND/month; at f* = 1.0945 it is 12 months at 16,873,542 VND/month.</a:t>
            </a:r>
            <a:endParaRPr lang="en-US" sz="1400" dirty="0"/>
          </a:p>
        </p:txBody>
      </p:sp>
      <p:sp>
        <p:nvSpPr>
          <p:cNvPr id="19" name="Text 1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and baseline_equalcost_v1_canonical.json → /match_benchmark_a</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Severe downturn: the trade-off, both halves</a:t>
            </a:r>
            <a:endParaRPr lang="en-US" sz="3200" dirty="0"/>
          </a:p>
        </p:txBody>
      </p:sp>
      <p:graphicFrame>
        <p:nvGraphicFramePr>
          <p:cNvPr id="3" name="Chart 0" descr=""/>
          <p:cNvGraphicFramePr/>
          <p:nvPr/>
        </p:nvGraphicFramePr>
        <p:xfrm>
          <a:off x="640080" y="1554480"/>
          <a:ext cx="521208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309360" y="1554480"/>
          <a:ext cx="5212080" cy="32004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p:nvPr/>
        </p:nvSpPr>
        <p:spPr>
          <a:xfrm>
            <a:off x="640080" y="4983480"/>
            <a:ext cx="10881360" cy="41148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The burden reduction and the recovery delay are one mechanism. Mean duration extends 13 → 18.718 months.</a:t>
            </a:r>
            <a:endParaRPr lang="en-US" sz="1500" dirty="0"/>
          </a:p>
        </p:txBody>
      </p:sp>
      <p:sp>
        <p:nvSpPr>
          <p:cNvPr id="6" name="Text 2"/>
          <p:cNvSpPr/>
          <p:nvPr/>
        </p:nvSpPr>
        <p:spPr>
          <a:xfrm>
            <a:off x="640080" y="5440680"/>
            <a:ext cx="10881360" cy="640080"/>
          </a:xfrm>
          <a:prstGeom prst="rect">
            <a:avLst/>
          </a:prstGeom>
          <a:noFill/>
          <a:ln/>
        </p:spPr>
        <p:txBody>
          <a:bodyPr wrap="square" lIns="0" tIns="0" rIns="0" bIns="0" rtlCol="0" anchor="ctr"/>
          <a:lstStyle/>
          <a:p>
            <a:pPr indent="0" marL="0">
              <a:lnSpc>
                <a:spcPts val="1600"/>
              </a:lnSpc>
              <a:buNone/>
            </a:pPr>
            <a:r>
              <a:rPr lang="en-US" sz="1100" dirty="0">
                <a:solidFill>
                  <a:srgbClr val="6B6B6B"/>
                </a:solidFill>
                <a:latin typeface="Calibri" pitchFamily="34" charset="0"/>
                <a:ea typeface="Calibri" pitchFamily="34" charset="-122"/>
                <a:cs typeface="Calibri" pitchFamily="34" charset="-120"/>
              </a:rPr>
              <a:t>15% is an illustrative reporting band chosen for this study, not a validated hardship cutoff. Burden is payment ÷ GMV. The fixed arm is scheduled recovery under an assumption of full, on-time payment.</a:t>
            </a:r>
            <a:endParaRPr lang="en-US" sz="1100" dirty="0"/>
          </a:p>
        </p:txBody>
      </p:sp>
      <p:sp>
        <p:nvSpPr>
          <p:cNvPr id="7" name="Text 3"/>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baseline_v2_canonical.json → /scenarios/severe_downturn   ·   claim-ledger S-1, I-3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Price and payment rule are separable — and both matter</a:t>
            </a:r>
            <a:endParaRPr lang="en-US" sz="3200" dirty="0"/>
          </a:p>
        </p:txBody>
      </p:sp>
      <p:sp>
        <p:nvSpPr>
          <p:cNvPr id="3" name="Shape 1"/>
          <p:cNvSpPr/>
          <p:nvPr/>
        </p:nvSpPr>
        <p:spPr>
          <a:xfrm>
            <a:off x="640080" y="1645920"/>
            <a:ext cx="5120640" cy="2286000"/>
          </a:xfrm>
          <a:prstGeom prst="roundRect">
            <a:avLst>
              <a:gd name="adj" fmla="val 3200"/>
            </a:avLst>
          </a:prstGeom>
          <a:solidFill>
            <a:srgbClr val="FAFAFA"/>
          </a:solidFill>
          <a:ln w="12700">
            <a:solidFill>
              <a:srgbClr val="D8D8D8"/>
            </a:solidFill>
            <a:prstDash val="solid"/>
          </a:ln>
        </p:spPr>
      </p:sp>
      <p:sp>
        <p:nvSpPr>
          <p:cNvPr id="4" name="Text 2"/>
          <p:cNvSpPr/>
          <p:nvPr/>
        </p:nvSpPr>
        <p:spPr>
          <a:xfrm>
            <a:off x="1005840" y="1874520"/>
            <a:ext cx="4389120" cy="365760"/>
          </a:xfrm>
          <a:prstGeom prst="rect">
            <a:avLst/>
          </a:prstGeom>
          <a:noFill/>
          <a:ln/>
        </p:spPr>
        <p:txBody>
          <a:bodyPr wrap="square" lIns="0" tIns="0" rIns="0" bIns="0" rtlCol="0" anchor="ctr"/>
          <a:lstStyle/>
          <a:p>
            <a:pPr indent="0" marL="0">
              <a:buNone/>
            </a:pPr>
            <a:r>
              <a:rPr lang="en-US" sz="1400" b="1" dirty="0">
                <a:solidFill>
                  <a:srgbClr val="0072B2"/>
                </a:solidFill>
                <a:latin typeface="Calibri" pitchFamily="34" charset="0"/>
                <a:ea typeface="Calibri" pitchFamily="34" charset="-122"/>
                <a:cs typeface="Calibri" pitchFamily="34" charset="-120"/>
              </a:rPr>
              <a:t>ILLUSTRATIVE CAP</a:t>
            </a:r>
            <a:endParaRPr lang="en-US" sz="1400" dirty="0"/>
          </a:p>
        </p:txBody>
      </p:sp>
      <p:sp>
        <p:nvSpPr>
          <p:cNvPr id="5" name="Text 3"/>
          <p:cNvSpPr/>
          <p:nvPr/>
        </p:nvSpPr>
        <p:spPr>
          <a:xfrm>
            <a:off x="100584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1.20</a:t>
            </a:r>
            <a:endParaRPr lang="en-US" sz="4000" dirty="0"/>
          </a:p>
        </p:txBody>
      </p:sp>
      <p:sp>
        <p:nvSpPr>
          <p:cNvPr id="6" name="Text 4"/>
          <p:cNvSpPr/>
          <p:nvPr/>
        </p:nvSpPr>
        <p:spPr>
          <a:xfrm>
            <a:off x="100584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Substantially more expensive than the 18% amortizing reference.</a:t>
            </a:r>
            <a:endParaRPr lang="en-US" sz="1200" dirty="0"/>
          </a:p>
        </p:txBody>
      </p:sp>
      <p:sp>
        <p:nvSpPr>
          <p:cNvPr id="7" name="Shape 5"/>
          <p:cNvSpPr/>
          <p:nvPr/>
        </p:nvSpPr>
        <p:spPr>
          <a:xfrm>
            <a:off x="6400800" y="1645920"/>
            <a:ext cx="5120640" cy="2286000"/>
          </a:xfrm>
          <a:prstGeom prst="roundRect">
            <a:avLst>
              <a:gd name="adj" fmla="val 3200"/>
            </a:avLst>
          </a:prstGeom>
          <a:solidFill>
            <a:srgbClr val="FAFAFA"/>
          </a:solidFill>
          <a:ln w="12700">
            <a:solidFill>
              <a:srgbClr val="D8D8D8"/>
            </a:solidFill>
            <a:prstDash val="solid"/>
          </a:ln>
        </p:spPr>
      </p:sp>
      <p:sp>
        <p:nvSpPr>
          <p:cNvPr id="8" name="Text 6"/>
          <p:cNvSpPr/>
          <p:nvPr/>
        </p:nvSpPr>
        <p:spPr>
          <a:xfrm>
            <a:off x="6766560" y="1874520"/>
            <a:ext cx="4389120" cy="365760"/>
          </a:xfrm>
          <a:prstGeom prst="rect">
            <a:avLst/>
          </a:prstGeom>
          <a:noFill/>
          <a:ln/>
        </p:spPr>
        <p:txBody>
          <a:bodyPr wrap="square" lIns="0" tIns="0" rIns="0" bIns="0" rtlCol="0" anchor="ctr"/>
          <a:lstStyle/>
          <a:p>
            <a:pPr indent="0" marL="0">
              <a:buNone/>
            </a:pPr>
            <a:r>
              <a:rPr lang="en-US" sz="1400" b="1" dirty="0">
                <a:solidFill>
                  <a:srgbClr val="009E73"/>
                </a:solidFill>
                <a:latin typeface="Calibri" pitchFamily="34" charset="0"/>
                <a:ea typeface="Calibri" pitchFamily="34" charset="-122"/>
                <a:cs typeface="Calibri" pitchFamily="34" charset="-120"/>
              </a:rPr>
              <a:t>NEAREST GRID MATCH</a:t>
            </a:r>
            <a:endParaRPr lang="en-US" sz="1400" dirty="0"/>
          </a:p>
        </p:txBody>
      </p:sp>
      <p:sp>
        <p:nvSpPr>
          <p:cNvPr id="9" name="Text 7"/>
          <p:cNvSpPr/>
          <p:nvPr/>
        </p:nvSpPr>
        <p:spPr>
          <a:xfrm>
            <a:off x="6766560" y="2286000"/>
            <a:ext cx="4389120" cy="822960"/>
          </a:xfrm>
          <a:prstGeom prst="rect">
            <a:avLst/>
          </a:prstGeom>
          <a:noFill/>
          <a:ln/>
        </p:spPr>
        <p:txBody>
          <a:bodyPr wrap="square" lIns="0" tIns="0" rIns="0" bIns="0" rtlCol="0" anchor="ctr"/>
          <a:lstStyle/>
          <a:p>
            <a:pPr indent="0" marL="0">
              <a:buNone/>
            </a:pPr>
            <a:r>
              <a:rPr lang="en-US" sz="4000" b="1" dirty="0">
                <a:solidFill>
                  <a:srgbClr val="1A1A1A"/>
                </a:solidFill>
                <a:latin typeface="Cambria" pitchFamily="34" charset="0"/>
                <a:ea typeface="Cambria" pitchFamily="34" charset="-122"/>
                <a:cs typeface="Cambria" pitchFamily="34" charset="-120"/>
              </a:rPr>
              <a:t>f* = 1.0945</a:t>
            </a:r>
            <a:endParaRPr lang="en-US" sz="4000" dirty="0"/>
          </a:p>
        </p:txBody>
      </p:sp>
      <p:sp>
        <p:nvSpPr>
          <p:cNvPr id="10" name="Text 8"/>
          <p:cNvSpPr/>
          <p:nvPr/>
        </p:nvSpPr>
        <p:spPr>
          <a:xfrm>
            <a:off x="6766560" y="3154680"/>
            <a:ext cx="4389120" cy="594360"/>
          </a:xfrm>
          <a:prstGeom prst="rect">
            <a:avLst/>
          </a:prstGeom>
          <a:noFill/>
          <a:ln/>
        </p:spPr>
        <p:txBody>
          <a:bodyPr wrap="square" lIns="0" tIns="0" rIns="0" bIns="0" rtlCol="0" anchor="ctr"/>
          <a:lstStyle/>
          <a:p>
            <a:pPr indent="0" marL="0">
              <a:lnSpc>
                <a:spcPts val="1700"/>
              </a:lnSpc>
              <a:buNone/>
            </a:pPr>
            <a:r>
              <a:rPr lang="en-US" sz="1200" dirty="0">
                <a:solidFill>
                  <a:srgbClr val="444444"/>
                </a:solidFill>
                <a:latin typeface="Calibri" pitchFamily="34" charset="0"/>
                <a:ea typeface="Calibri" pitchFamily="34" charset="-122"/>
                <a:cs typeface="Calibri" pitchFamily="34" charset="-120"/>
              </a:rPr>
              <a:t>19.537656% against the reference's 19.561817% — residual ≈ 0.02416pp. Not an exact match: duration is integer-valued.</a:t>
            </a:r>
            <a:endParaRPr lang="en-US" sz="1200" dirty="0"/>
          </a:p>
        </p:txBody>
      </p:sp>
      <p:sp>
        <p:nvSpPr>
          <p:cNvPr id="11" name="Text 9"/>
          <p:cNvSpPr/>
          <p:nvPr/>
        </p:nvSpPr>
        <p:spPr>
          <a:xfrm>
            <a:off x="640080" y="4160520"/>
            <a:ext cx="10881360" cy="1097280"/>
          </a:xfrm>
          <a:prstGeom prst="rect">
            <a:avLst/>
          </a:prstGeom>
          <a:noFill/>
          <a:ln/>
        </p:spPr>
        <p:txBody>
          <a:bodyPr wrap="square" lIns="0" tIns="0" rIns="0" bIns="0" rtlCol="0" anchor="ctr"/>
          <a:lstStyle/>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Unchanged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pre-cap payment rule — each payment is the same share of net sales.</a:t>
            </a:r>
            <a:endParaRPr lang="en-US" sz="1500" dirty="0"/>
          </a:p>
          <a:p>
            <a:pPr indent="0" marL="0">
              <a:lnSpc>
                <a:spcPts val="2300"/>
              </a:lnSpc>
              <a:buNone/>
            </a:pPr>
            <a:r>
              <a:rPr lang="en-US" sz="1500" b="1" dirty="0">
                <a:solidFill>
                  <a:srgbClr val="333333"/>
                </a:solidFill>
                <a:latin typeface="Calibri" pitchFamily="34" charset="0"/>
                <a:ea typeface="Calibri" pitchFamily="34" charset="-122"/>
                <a:cs typeface="Calibri" pitchFamily="34" charset="-120"/>
              </a:rPr>
              <a:t>Changed by price:  </a:t>
            </a:r>
            <a:pPr indent="0" marL="0">
              <a:lnSpc>
                <a:spcPts val="2300"/>
              </a:lnSpc>
              <a:buNone/>
            </a:pPr>
            <a:r>
              <a:rPr lang="en-US" sz="1500" dirty="0">
                <a:solidFill>
                  <a:srgbClr val="333333"/>
                </a:solidFill>
                <a:latin typeface="Calibri" pitchFamily="34" charset="0"/>
                <a:ea typeface="Calibri" pitchFamily="34" charset="-122"/>
                <a:cs typeface="Calibri" pitchFamily="34" charset="-120"/>
              </a:rPr>
              <a:t>the contractual target, and therefore completion timing, terminal clipping and the realised stream.</a:t>
            </a:r>
            <a:endParaRPr lang="en-US" sz="1500" dirty="0"/>
          </a:p>
        </p:txBody>
      </p:sp>
      <p:sp>
        <p:nvSpPr>
          <p:cNvPr id="12" name="Text 10"/>
          <p:cNvSpPr/>
          <p:nvPr/>
        </p:nvSpPr>
        <p:spPr>
          <a:xfrm>
            <a:off x="640080" y="5303520"/>
            <a:ext cx="10881360" cy="640080"/>
          </a:xfrm>
          <a:prstGeom prst="rect">
            <a:avLst/>
          </a:prstGeom>
          <a:noFill/>
          <a:ln/>
        </p:spPr>
        <p:txBody>
          <a:bodyPr wrap="square" lIns="0" tIns="0" rIns="0" bIns="0" rtlCol="0" anchor="ctr"/>
          <a:lstStyle/>
          <a:p>
            <a:pPr indent="0" marL="0">
              <a:lnSpc>
                <a:spcPts val="1800"/>
              </a:lnSpc>
              <a:buNone/>
            </a:pPr>
            <a:r>
              <a:rPr lang="en-US" sz="1300" i="1" dirty="0">
                <a:solidFill>
                  <a:srgbClr val="1A1A1A"/>
                </a:solidFill>
                <a:latin typeface="Calibri" pitchFamily="34" charset="0"/>
                <a:ea typeface="Calibri" pitchFamily="34" charset="-122"/>
                <a:cs typeface="Calibri" pitchFamily="34" charset="-120"/>
              </a:rPr>
              <a:t>Analytically separable — but they jointly determine outcomes. A cost ratio quoted at a single cap factor is a pricing result, not a property of revenue-contingent repayment.</a:t>
            </a:r>
            <a:endParaRPr lang="en-US" sz="1300" dirty="0"/>
          </a:p>
        </p:txBody>
      </p:sp>
      <p:sp>
        <p:nvSpPr>
          <p:cNvPr id="13" name="Text 11"/>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validation_v1_canonical.json → /pricing   ·   claim-ledger P-1, P-2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 retraction we report as part of the result</a:t>
            </a:r>
            <a:endParaRPr lang="en-US" sz="3200" dirty="0"/>
          </a:p>
        </p:txBody>
      </p:sp>
      <p:sp>
        <p:nvSpPr>
          <p:cNvPr id="3" name="Shape 1"/>
          <p:cNvSpPr/>
          <p:nvPr/>
        </p:nvSpPr>
        <p:spPr>
          <a:xfrm>
            <a:off x="640080" y="1645920"/>
            <a:ext cx="10881360" cy="1371600"/>
          </a:xfrm>
          <a:prstGeom prst="roundRect">
            <a:avLst>
              <a:gd name="adj" fmla="val 5333"/>
            </a:avLst>
          </a:prstGeom>
          <a:solidFill>
            <a:srgbClr val="FDF3EF"/>
          </a:solidFill>
          <a:ln w="19050">
            <a:solidFill>
              <a:srgbClr val="D55E00"/>
            </a:solidFill>
            <a:prstDash val="solid"/>
          </a:ln>
        </p:spPr>
      </p:sp>
      <p:sp>
        <p:nvSpPr>
          <p:cNvPr id="4" name="Text 2"/>
          <p:cNvSpPr/>
          <p:nvPr/>
        </p:nvSpPr>
        <p:spPr>
          <a:xfrm>
            <a:off x="1005840" y="1874520"/>
            <a:ext cx="10149840" cy="457200"/>
          </a:xfrm>
          <a:prstGeom prst="rect">
            <a:avLst/>
          </a:prstGeom>
          <a:noFill/>
          <a:ln/>
        </p:spPr>
        <p:txBody>
          <a:bodyPr wrap="square" lIns="0" tIns="0" rIns="0" bIns="0" rtlCol="0" anchor="ctr"/>
          <a:lstStyle/>
          <a:p>
            <a:pPr indent="0" marL="0">
              <a:buNone/>
            </a:pPr>
            <a:r>
              <a:rPr lang="en-US" sz="2000" i="1" dirty="0">
                <a:solidFill>
                  <a:srgbClr val="6B2E12"/>
                </a:solidFill>
                <a:latin typeface="Cambria" pitchFamily="34" charset="0"/>
                <a:ea typeface="Cambria" pitchFamily="34" charset="-122"/>
                <a:cs typeface="Cambria" pitchFamily="34" charset="-120"/>
              </a:rPr>
              <a:t>"RBF costs approximately 2.3× the interest of a conventional loan."</a:t>
            </a:r>
            <a:endParaRPr lang="en-US" sz="2000" dirty="0"/>
          </a:p>
        </p:txBody>
      </p:sp>
      <p:sp>
        <p:nvSpPr>
          <p:cNvPr id="5" name="Text 3"/>
          <p:cNvSpPr/>
          <p:nvPr/>
        </p:nvSpPr>
        <p:spPr>
          <a:xfrm>
            <a:off x="1005840" y="2423160"/>
            <a:ext cx="10149840" cy="365760"/>
          </a:xfrm>
          <a:prstGeom prst="rect">
            <a:avLst/>
          </a:prstGeom>
          <a:noFill/>
          <a:ln/>
        </p:spPr>
        <p:txBody>
          <a:bodyPr wrap="square" lIns="0" tIns="0" rIns="0" bIns="0" rtlCol="0" anchor="ctr"/>
          <a:lstStyle/>
          <a:p>
            <a:pPr indent="0" marL="0">
              <a:buNone/>
            </a:pPr>
            <a:r>
              <a:rPr lang="en-US" sz="1400" b="1" dirty="0">
                <a:solidFill>
                  <a:srgbClr val="D55E00"/>
                </a:solidFill>
                <a:latin typeface="Calibri" pitchFamily="34" charset="0"/>
                <a:ea typeface="Calibri" pitchFamily="34" charset="-122"/>
                <a:cs typeface="Calibri" pitchFamily="34" charset="-120"/>
              </a:rPr>
              <a:t>WITHDRAWN — and the reason is this slide deck's argument.</a:t>
            </a:r>
            <a:endParaRPr lang="en-US" sz="1400" dirty="0"/>
          </a:p>
        </p:txBody>
      </p:sp>
      <p:sp>
        <p:nvSpPr>
          <p:cNvPr id="6" name="Text 4"/>
          <p:cNvSpPr/>
          <p:nvPr/>
        </p:nvSpPr>
        <p:spPr>
          <a:xfrm>
            <a:off x="640080" y="3246120"/>
            <a:ext cx="10698480" cy="173736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fixed f = 1.20 as though it were intrinsic — total contractual cost is proportional to f.</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quoted one effective APR as though it were a contract property — APR is jointly determined by the price and the revenue path.</a:t>
            </a:r>
            <a:endParaRPr lang="en-US" sz="1500" dirty="0"/>
          </a:p>
          <a:p>
            <a:pPr marL="342900" indent="-342900">
              <a:spcAft>
                <a:spcPts val="1000"/>
              </a:spcAft>
              <a:buSzPct val="100000"/>
              <a:buChar char="•"/>
            </a:pPr>
            <a:r>
              <a:rPr lang="en-US" sz="1500" dirty="0">
                <a:solidFill>
                  <a:srgbClr val="333333"/>
                </a:solidFill>
                <a:latin typeface="Calibri" pitchFamily="34" charset="0"/>
                <a:ea typeface="Calibri" pitchFamily="34" charset="-122"/>
                <a:cs typeface="Calibri" pitchFamily="34" charset="-120"/>
              </a:rPr>
              <a:t>It survived several drafts, written by authors actively trying to avoid exactly this error.</a:t>
            </a:r>
            <a:endParaRPr lang="en-US" sz="1500" dirty="0"/>
          </a:p>
        </p:txBody>
      </p:sp>
      <p:sp>
        <p:nvSpPr>
          <p:cNvPr id="7" name="Text 5"/>
          <p:cNvSpPr/>
          <p:nvPr/>
        </p:nvSpPr>
        <p:spPr>
          <a:xfrm>
            <a:off x="640080" y="4983480"/>
            <a:ext cx="10881360" cy="640080"/>
          </a:xfrm>
          <a:prstGeom prst="rect">
            <a:avLst/>
          </a:prstGeom>
          <a:noFill/>
          <a:ln/>
        </p:spPr>
        <p:txBody>
          <a:bodyPr wrap="square" lIns="0" tIns="0" rIns="0" bIns="0" rtlCol="0" anchor="ctr"/>
          <a:lstStyle/>
          <a:p>
            <a:pPr indent="0" marL="0">
              <a:lnSpc>
                <a:spcPts val="1900"/>
              </a:lnSpc>
              <a:buNone/>
            </a:pPr>
            <a:r>
              <a:rPr lang="en-US" sz="1400" b="1" dirty="0">
                <a:solidFill>
                  <a:srgbClr val="1A1A1A"/>
                </a:solidFill>
                <a:latin typeface="Calibri" pitchFamily="34" charset="0"/>
                <a:ea typeface="Calibri" pitchFamily="34" charset="-122"/>
                <a:cs typeface="Calibri" pitchFamily="34" charset="-120"/>
              </a:rPr>
              <a:t>We report the retraction rather than quietly correcting it, because it is the concrete instance of the conflation the paper argues against.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Where recovery actually fails</a:t>
            </a:r>
            <a:endParaRPr lang="en-US" sz="3200" dirty="0"/>
          </a:p>
        </p:txBody>
      </p:sp>
      <p:graphicFrame>
        <p:nvGraphicFramePr>
          <p:cNvPr id="3" name="Chart 0" descr=""/>
          <p:cNvGraphicFramePr/>
          <p:nvPr/>
        </p:nvGraphicFramePr>
        <p:xfrm>
          <a:off x="640080" y="1554480"/>
          <a:ext cx="1088136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4846320"/>
            <a:ext cx="10881360" cy="8229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Timing decides it, not zero revenue as such. </a:t>
            </a:r>
            <a:pPr indent="0" marL="0">
              <a:lnSpc>
                <a:spcPts val="2000"/>
              </a:lnSpc>
              <a:buNone/>
            </a:pPr>
            <a:r>
              <a:rPr lang="en-US" sz="1400" dirty="0">
                <a:solidFill>
                  <a:srgbClr val="333333"/>
                </a:solidFill>
                <a:latin typeface="Calibri" pitchFamily="34" charset="0"/>
                <a:ea typeface="Calibri" pitchFamily="34" charset="-122"/>
                <a:cs typeface="Calibri" pitchFamily="34" charset="-120"/>
              </a:rPr>
              <a:t>A temporary three-month cessation leaves 2.0% of paths incomplete at f = 1.20 and none at f*. Permanent closure before the 13-month matched term leaves every path incomplete.</a:t>
            </a:r>
            <a:endParaRPr lang="en-US" sz="1400" dirty="0"/>
          </a:p>
        </p:txBody>
      </p:sp>
      <p:sp>
        <p:nvSpPr>
          <p:cNvPr id="5" name="Text 2"/>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 and baseline_closure_equalcost_v1 → /scenarios/*/RBF   ·   claim-ledger S-3, S-4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Incomplete recovery is not principal loss</a:t>
            </a:r>
            <a:endParaRPr lang="en-US" sz="3200" dirty="0"/>
          </a:p>
        </p:txBody>
      </p:sp>
      <p:sp>
        <p:nvSpPr>
          <p:cNvPr id="3" name="Text 1"/>
          <p:cNvSpPr/>
          <p:nvPr/>
        </p:nvSpPr>
        <p:spPr>
          <a:xfrm>
            <a:off x="1508760" y="1627632"/>
            <a:ext cx="26517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Scenario</a:t>
            </a:r>
            <a:endParaRPr lang="en-US" sz="1100" dirty="0"/>
          </a:p>
        </p:txBody>
      </p:sp>
      <p:sp>
        <p:nvSpPr>
          <p:cNvPr id="4" name="Text 2"/>
          <p:cNvSpPr/>
          <p:nvPr/>
        </p:nvSpPr>
        <p:spPr>
          <a:xfrm>
            <a:off x="4206240" y="1627632"/>
            <a:ext cx="219456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Not reaching target</a:t>
            </a:r>
            <a:endParaRPr lang="en-US" sz="1100" dirty="0"/>
          </a:p>
        </p:txBody>
      </p:sp>
      <p:sp>
        <p:nvSpPr>
          <p:cNvPr id="5" name="Text 3"/>
          <p:cNvSpPr/>
          <p:nvPr/>
        </p:nvSpPr>
        <p:spPr>
          <a:xfrm>
            <a:off x="6492240" y="1627632"/>
            <a:ext cx="246888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Amount recovered</a:t>
            </a:r>
            <a:endParaRPr lang="en-US" sz="1100" dirty="0"/>
          </a:p>
        </p:txBody>
      </p:sp>
      <p:sp>
        <p:nvSpPr>
          <p:cNvPr id="6" name="Text 4"/>
          <p:cNvSpPr/>
          <p:nvPr/>
        </p:nvSpPr>
        <p:spPr>
          <a:xfrm>
            <a:off x="9052560" y="1627632"/>
            <a:ext cx="2286000" cy="274320"/>
          </a:xfrm>
          <a:prstGeom prst="rect">
            <a:avLst/>
          </a:prstGeom>
          <a:noFill/>
          <a:ln/>
        </p:spPr>
        <p:txBody>
          <a:bodyPr wrap="square" lIns="0" tIns="0" rIns="0" bIns="0" rtlCol="0" anchor="ctr"/>
          <a:lstStyle/>
          <a:p>
            <a:pPr indent="0" marL="0">
              <a:buNone/>
            </a:pPr>
            <a:r>
              <a:rPr lang="en-US" sz="1100" b="1" dirty="0">
                <a:solidFill>
                  <a:srgbClr val="6B6B6B"/>
                </a:solidFill>
                <a:latin typeface="Calibri" pitchFamily="34" charset="0"/>
                <a:ea typeface="Calibri" pitchFamily="34" charset="-122"/>
                <a:cs typeface="Calibri" pitchFamily="34" charset="-120"/>
              </a:rPr>
              <a:t>vs 185M advance</a:t>
            </a:r>
            <a:endParaRPr lang="en-US" sz="1100" dirty="0"/>
          </a:p>
        </p:txBody>
      </p:sp>
      <p:sp>
        <p:nvSpPr>
          <p:cNvPr id="7" name="Shape 5"/>
          <p:cNvSpPr/>
          <p:nvPr/>
        </p:nvSpPr>
        <p:spPr>
          <a:xfrm>
            <a:off x="640080" y="2084832"/>
            <a:ext cx="10881360" cy="1051560"/>
          </a:xfrm>
          <a:prstGeom prst="roundRect">
            <a:avLst>
              <a:gd name="adj" fmla="val 5217"/>
            </a:avLst>
          </a:prstGeom>
          <a:solidFill>
            <a:srgbClr val="FAFAFA"/>
          </a:solidFill>
          <a:ln w="12700">
            <a:solidFill>
              <a:srgbClr val="D8D8D8"/>
            </a:solidFill>
            <a:prstDash val="solid"/>
          </a:ln>
        </p:spPr>
      </p:sp>
      <p:sp>
        <p:nvSpPr>
          <p:cNvPr id="8" name="Shape 6"/>
          <p:cNvSpPr/>
          <p:nvPr/>
        </p:nvSpPr>
        <p:spPr>
          <a:xfrm>
            <a:off x="960120" y="2414016"/>
            <a:ext cx="365760" cy="365760"/>
          </a:xfrm>
          <a:prstGeom prst="ellipse">
            <a:avLst/>
          </a:prstGeom>
          <a:solidFill>
            <a:srgbClr val="009E73"/>
          </a:solidFill>
          <a:ln/>
        </p:spPr>
      </p:sp>
      <p:sp>
        <p:nvSpPr>
          <p:cNvPr id="9" name="Text 7"/>
          <p:cNvSpPr/>
          <p:nvPr/>
        </p:nvSpPr>
        <p:spPr>
          <a:xfrm>
            <a:off x="1508760" y="22219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13</a:t>
            </a:r>
            <a:endParaRPr lang="en-US" sz="1500" dirty="0"/>
          </a:p>
        </p:txBody>
      </p:sp>
      <p:sp>
        <p:nvSpPr>
          <p:cNvPr id="10" name="Text 8"/>
          <p:cNvSpPr/>
          <p:nvPr/>
        </p:nvSpPr>
        <p:spPr>
          <a:xfrm>
            <a:off x="4206240" y="22219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76.2% of paths</a:t>
            </a:r>
            <a:endParaRPr lang="en-US" sz="1400" dirty="0"/>
          </a:p>
        </p:txBody>
      </p:sp>
      <p:sp>
        <p:nvSpPr>
          <p:cNvPr id="11" name="Text 9"/>
          <p:cNvSpPr/>
          <p:nvPr/>
        </p:nvSpPr>
        <p:spPr>
          <a:xfrm>
            <a:off x="6492240" y="22219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214.3M VND</a:t>
            </a:r>
            <a:endParaRPr lang="en-US" sz="1400" dirty="0"/>
          </a:p>
        </p:txBody>
      </p:sp>
      <p:sp>
        <p:nvSpPr>
          <p:cNvPr id="12" name="Text 10"/>
          <p:cNvSpPr/>
          <p:nvPr/>
        </p:nvSpPr>
        <p:spPr>
          <a:xfrm>
            <a:off x="9052560" y="2221992"/>
            <a:ext cx="2286000" cy="777240"/>
          </a:xfrm>
          <a:prstGeom prst="rect">
            <a:avLst/>
          </a:prstGeom>
          <a:noFill/>
          <a:ln/>
        </p:spPr>
        <p:txBody>
          <a:bodyPr wrap="square" lIns="0" tIns="0" rIns="0" bIns="0" rtlCol="0" anchor="ctr"/>
          <a:lstStyle/>
          <a:p>
            <a:pPr indent="0" marL="0">
              <a:buNone/>
            </a:pPr>
            <a:r>
              <a:rPr lang="en-US" sz="1300" b="1" dirty="0">
                <a:solidFill>
                  <a:srgbClr val="009E73"/>
                </a:solidFill>
                <a:latin typeface="Calibri" pitchFamily="34" charset="0"/>
                <a:ea typeface="Calibri" pitchFamily="34" charset="-122"/>
                <a:cs typeface="Calibri" pitchFamily="34" charset="-120"/>
              </a:rPr>
              <a:t>principal covered</a:t>
            </a:r>
            <a:endParaRPr lang="en-US" sz="1300" dirty="0"/>
          </a:p>
        </p:txBody>
      </p:sp>
      <p:sp>
        <p:nvSpPr>
          <p:cNvPr id="13" name="Shape 11"/>
          <p:cNvSpPr/>
          <p:nvPr/>
        </p:nvSpPr>
        <p:spPr>
          <a:xfrm>
            <a:off x="640080" y="3456432"/>
            <a:ext cx="10881360" cy="1051560"/>
          </a:xfrm>
          <a:prstGeom prst="roundRect">
            <a:avLst>
              <a:gd name="adj" fmla="val 5217"/>
            </a:avLst>
          </a:prstGeom>
          <a:solidFill>
            <a:srgbClr val="FAFAFA"/>
          </a:solidFill>
          <a:ln w="12700">
            <a:solidFill>
              <a:srgbClr val="D8D8D8"/>
            </a:solidFill>
            <a:prstDash val="solid"/>
          </a:ln>
        </p:spPr>
      </p:sp>
      <p:sp>
        <p:nvSpPr>
          <p:cNvPr id="14" name="Shape 12"/>
          <p:cNvSpPr/>
          <p:nvPr/>
        </p:nvSpPr>
        <p:spPr>
          <a:xfrm>
            <a:off x="960120" y="3785616"/>
            <a:ext cx="365760" cy="365760"/>
          </a:xfrm>
          <a:prstGeom prst="ellipse">
            <a:avLst/>
          </a:prstGeom>
          <a:solidFill>
            <a:srgbClr val="D55E00"/>
          </a:solidFill>
          <a:ln/>
        </p:spPr>
      </p:sp>
      <p:sp>
        <p:nvSpPr>
          <p:cNvPr id="15" name="Text 13"/>
          <p:cNvSpPr/>
          <p:nvPr/>
        </p:nvSpPr>
        <p:spPr>
          <a:xfrm>
            <a:off x="1508760" y="3593592"/>
            <a:ext cx="2651760" cy="777240"/>
          </a:xfrm>
          <a:prstGeom prst="rect">
            <a:avLst/>
          </a:prstGeom>
          <a:noFill/>
          <a:ln/>
        </p:spPr>
        <p:txBody>
          <a:bodyPr wrap="square" lIns="0" tIns="0" rIns="0" bIns="0" rtlCol="0" anchor="ctr"/>
          <a:lstStyle/>
          <a:p>
            <a:pPr indent="0" marL="0">
              <a:buNone/>
            </a:pPr>
            <a:r>
              <a:rPr lang="en-US" sz="1500" b="1" dirty="0">
                <a:solidFill>
                  <a:srgbClr val="1A1A1A"/>
                </a:solidFill>
                <a:latin typeface="Cambria" pitchFamily="34" charset="0"/>
                <a:ea typeface="Cambria" pitchFamily="34" charset="-122"/>
                <a:cs typeface="Cambria" pitchFamily="34" charset="-120"/>
              </a:rPr>
              <a:t>Closure, month 7</a:t>
            </a:r>
            <a:endParaRPr lang="en-US" sz="1500" dirty="0"/>
          </a:p>
        </p:txBody>
      </p:sp>
      <p:sp>
        <p:nvSpPr>
          <p:cNvPr id="16" name="Text 14"/>
          <p:cNvSpPr/>
          <p:nvPr/>
        </p:nvSpPr>
        <p:spPr>
          <a:xfrm>
            <a:off x="4206240" y="3593592"/>
            <a:ext cx="219456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100% of paths</a:t>
            </a:r>
            <a:endParaRPr lang="en-US" sz="1400" dirty="0"/>
          </a:p>
        </p:txBody>
      </p:sp>
      <p:sp>
        <p:nvSpPr>
          <p:cNvPr id="17" name="Text 15"/>
          <p:cNvSpPr/>
          <p:nvPr/>
        </p:nvSpPr>
        <p:spPr>
          <a:xfrm>
            <a:off x="6492240" y="3593592"/>
            <a:ext cx="2468880" cy="777240"/>
          </a:xfrm>
          <a:prstGeom prst="rect">
            <a:avLst/>
          </a:prstGeom>
          <a:noFill/>
          <a:ln/>
        </p:spPr>
        <p:txBody>
          <a:bodyPr wrap="square" lIns="0" tIns="0" rIns="0" bIns="0" rtlCol="0" anchor="ctr"/>
          <a:lstStyle/>
          <a:p>
            <a:pPr indent="0" marL="0">
              <a:buNone/>
            </a:pPr>
            <a:r>
              <a:rPr lang="en-US" sz="1400" dirty="0">
                <a:solidFill>
                  <a:srgbClr val="333333"/>
                </a:solidFill>
                <a:latin typeface="Calibri" pitchFamily="34" charset="0"/>
                <a:ea typeface="Calibri" pitchFamily="34" charset="-122"/>
                <a:cs typeface="Calibri" pitchFamily="34" charset="-120"/>
              </a:rPr>
              <a:t>≈ 98.3M VND</a:t>
            </a:r>
            <a:endParaRPr lang="en-US" sz="1400" dirty="0"/>
          </a:p>
        </p:txBody>
      </p:sp>
      <p:sp>
        <p:nvSpPr>
          <p:cNvPr id="18" name="Text 16"/>
          <p:cNvSpPr/>
          <p:nvPr/>
        </p:nvSpPr>
        <p:spPr>
          <a:xfrm>
            <a:off x="9052560" y="3593592"/>
            <a:ext cx="2286000" cy="77724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principal shortfall</a:t>
            </a:r>
            <a:endParaRPr lang="en-US" sz="1300" dirty="0"/>
          </a:p>
        </p:txBody>
      </p:sp>
      <p:sp>
        <p:nvSpPr>
          <p:cNvPr id="19" name="Text 17"/>
          <p:cNvSpPr/>
          <p:nvPr/>
        </p:nvSpPr>
        <p:spPr>
          <a:xfrm>
            <a:off x="640080" y="4828032"/>
            <a:ext cx="10881360" cy="1280160"/>
          </a:xfrm>
          <a:prstGeom prst="rect">
            <a:avLst/>
          </a:prstGeom>
          <a:noFill/>
          <a:ln/>
        </p:spPr>
        <p:txBody>
          <a:bodyPr wrap="square" lIns="0" tIns="0" rIns="0" bIns="0" rtlCol="0" anchor="ctr"/>
          <a:lstStyle/>
          <a:p>
            <a:pPr indent="0" marL="0">
              <a:lnSpc>
                <a:spcPts val="2000"/>
              </a:lnSpc>
              <a:buNone/>
            </a:pPr>
            <a:r>
              <a:rPr lang="en-US" sz="1400" b="1" dirty="0">
                <a:solidFill>
                  <a:srgbClr val="333333"/>
                </a:solidFill>
                <a:latin typeface="Calibri" pitchFamily="34" charset="0"/>
                <a:ea typeface="Calibri" pitchFamily="34" charset="-122"/>
                <a:cs typeface="Calibri" pitchFamily="34" charset="-120"/>
              </a:rPr>
              <a:t>A 76.2% incomplete-recovery rate is not a 76.2% loss rate.</a:t>
            </a:r>
            <a:endParaRPr lang="en-US" sz="1400" dirty="0"/>
          </a:p>
          <a:p>
            <a:pPr indent="0" marL="0">
              <a:lnSpc>
                <a:spcPts val="2000"/>
              </a:lnSpc>
              <a:buNone/>
            </a:pPr>
            <a:r>
              <a:rPr lang="en-US" sz="1400" dirty="0">
                <a:solidFill>
                  <a:srgbClr val="333333"/>
                </a:solidFill>
                <a:latin typeface="Calibri" pitchFamily="34" charset="0"/>
                <a:ea typeface="Calibri" pitchFamily="34" charset="-122"/>
                <a:cs typeface="Calibri" pitchFamily="34" charset="-120"/>
              </a:rPr>
              <a:t>Incomplete recovery means the contractual target was not reached. Whether that touches principal depends on how much was recovered. Closure at month 7 recovers the same absolute amount at both cap factors — that path is revenue-limited, not cap-limited.</a:t>
            </a:r>
            <a:endParaRPr lang="en-US" sz="1400" dirty="0"/>
          </a:p>
        </p:txBody>
      </p:sp>
      <p:sp>
        <p:nvSpPr>
          <p:cNvPr id="20" name="Text 18"/>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recovery_ratio/24 × terms/cap, from both closure artifacts   ·   claim-ledger I-3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our own statistics leave out</a:t>
            </a:r>
            <a:endParaRPr lang="en-US" sz="3200" dirty="0"/>
          </a:p>
        </p:txBody>
      </p:sp>
      <p:sp>
        <p:nvSpPr>
          <p:cNvPr id="3" name="Shape 1"/>
          <p:cNvSpPr/>
          <p:nvPr/>
        </p:nvSpPr>
        <p:spPr>
          <a:xfrm>
            <a:off x="640080" y="1645920"/>
            <a:ext cx="10881360" cy="1234440"/>
          </a:xfrm>
          <a:prstGeom prst="roundRect">
            <a:avLst>
              <a:gd name="adj" fmla="val 5926"/>
            </a:avLst>
          </a:prstGeom>
          <a:solidFill>
            <a:srgbClr val="F4F4F4"/>
          </a:solidFill>
          <a:ln w="12700">
            <a:solidFill>
              <a:srgbClr val="D8D8D8"/>
            </a:solidFill>
            <a:prstDash val="solid"/>
          </a:ln>
        </p:spPr>
      </p:sp>
      <p:sp>
        <p:nvSpPr>
          <p:cNvPr id="4" name="Text 2"/>
          <p:cNvSpPr/>
          <p:nvPr/>
        </p:nvSpPr>
        <p:spPr>
          <a:xfrm>
            <a:off x="1005840" y="1828800"/>
            <a:ext cx="10149840" cy="868680"/>
          </a:xfrm>
          <a:prstGeom prst="rect">
            <a:avLst/>
          </a:prstGeom>
          <a:noFill/>
          <a:ln/>
        </p:spPr>
        <p:txBody>
          <a:bodyPr wrap="square" lIns="0" tIns="0" rIns="0" bIns="0" rtlCol="0" anchor="ctr"/>
          <a:lstStyle/>
          <a:p>
            <a:pPr indent="0" marL="0">
              <a:lnSpc>
                <a:spcPts val="2100"/>
              </a:lnSpc>
              <a:buNone/>
            </a:pPr>
            <a:r>
              <a:rPr lang="en-US" sz="1500" dirty="0">
                <a:solidFill>
                  <a:srgbClr val="1A1A1A"/>
                </a:solidFill>
                <a:latin typeface="Calibri" pitchFamily="34" charset="0"/>
                <a:ea typeface="Calibri" pitchFamily="34" charset="-122"/>
                <a:cs typeface="Calibri" pitchFamily="34" charset="-120"/>
              </a:rPr>
              <a:t>Mean duration and mean effective APR are computed only over paths that reached the target. They estimate E[T | completion occurs by horizon H] — not E[T].</a:t>
            </a:r>
            <a:endParaRPr lang="en-US" sz="1500" dirty="0"/>
          </a:p>
        </p:txBody>
      </p:sp>
      <p:sp>
        <p:nvSpPr>
          <p:cNvPr id="5" name="Text 3"/>
          <p:cNvSpPr/>
          <p:nvPr/>
        </p:nvSpPr>
        <p:spPr>
          <a:xfrm>
            <a:off x="640080" y="3154680"/>
            <a:ext cx="10881360" cy="365760"/>
          </a:xfrm>
          <a:prstGeom prst="rect">
            <a:avLst/>
          </a:prstGeom>
          <a:noFill/>
          <a:ln/>
        </p:spPr>
        <p:txBody>
          <a:bodyPr wrap="square" lIns="0" tIns="0" rIns="0" bIns="0"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reading rule this forces</a:t>
            </a:r>
            <a:endParaRPr lang="en-US" sz="1700" dirty="0"/>
          </a:p>
        </p:txBody>
      </p:sp>
      <p:sp>
        <p:nvSpPr>
          <p:cNvPr id="6" name="Text 4"/>
          <p:cNvSpPr/>
          <p:nvPr/>
        </p:nvSpPr>
        <p:spPr>
          <a:xfrm>
            <a:off x="640080" y="3611880"/>
            <a:ext cx="10881360" cy="731520"/>
          </a:xfrm>
          <a:prstGeom prst="rect">
            <a:avLst/>
          </a:prstGeom>
          <a:noFill/>
          <a:ln/>
        </p:spPr>
        <p:txBody>
          <a:bodyPr wrap="square" lIns="0" tIns="0" rIns="0" bIns="0" rtlCol="0" anchor="ctr"/>
          <a:lstStyle/>
          <a:p>
            <a:pPr indent="0" marL="0">
              <a:lnSpc>
                <a:spcPts val="2100"/>
              </a:lnSpc>
              <a:buNone/>
            </a:pPr>
            <a:r>
              <a:rPr lang="en-US" sz="1500" dirty="0">
                <a:solidFill>
                  <a:srgbClr val="333333"/>
                </a:solidFill>
                <a:latin typeface="Calibri" pitchFamily="34" charset="0"/>
                <a:ea typeface="Calibri" pitchFamily="34" charset="-122"/>
                <a:cs typeface="Calibri" pitchFamily="34" charset="-120"/>
              </a:rPr>
              <a:t>A scenario with a short mean duration and a high incomplete-recovery rate is not a fast contract — it is one where the slow paths were dropped rather than counted.</a:t>
            </a:r>
            <a:endParaRPr lang="en-US" sz="1500" dirty="0"/>
          </a:p>
        </p:txBody>
      </p:sp>
      <p:sp>
        <p:nvSpPr>
          <p:cNvPr id="7" name="Shape 5"/>
          <p:cNvSpPr/>
          <p:nvPr/>
        </p:nvSpPr>
        <p:spPr>
          <a:xfrm>
            <a:off x="640080" y="4434840"/>
            <a:ext cx="10881360" cy="1234440"/>
          </a:xfrm>
          <a:prstGeom prst="roundRect">
            <a:avLst>
              <a:gd name="adj" fmla="val 5926"/>
            </a:avLst>
          </a:prstGeom>
          <a:solidFill>
            <a:srgbClr val="FDF3EF"/>
          </a:solidFill>
          <a:ln w="19050">
            <a:solidFill>
              <a:srgbClr val="D55E00"/>
            </a:solidFill>
            <a:prstDash val="solid"/>
          </a:ln>
        </p:spPr>
      </p:sp>
      <p:sp>
        <p:nvSpPr>
          <p:cNvPr id="8" name="Text 6"/>
          <p:cNvSpPr/>
          <p:nvPr/>
        </p:nvSpPr>
        <p:spPr>
          <a:xfrm>
            <a:off x="1005840" y="4617720"/>
            <a:ext cx="10149840" cy="868680"/>
          </a:xfrm>
          <a:prstGeom prst="rect">
            <a:avLst/>
          </a:prstGeom>
          <a:noFill/>
          <a:ln/>
        </p:spPr>
        <p:txBody>
          <a:bodyPr wrap="square" lIns="0" tIns="0" rIns="0" bIns="0" rtlCol="0" anchor="ctr"/>
          <a:lstStyle/>
          <a:p>
            <a:pPr indent="0" marL="0">
              <a:buNone/>
            </a:pPr>
            <a:r>
              <a:rPr lang="en-US" sz="1500" b="1" dirty="0">
                <a:solidFill>
                  <a:srgbClr val="6B2E12"/>
                </a:solidFill>
                <a:latin typeface="Calibri" pitchFamily="34" charset="0"/>
                <a:ea typeface="Calibri" pitchFamily="34" charset="-122"/>
                <a:cs typeface="Calibri" pitchFamily="34" charset="-120"/>
              </a:rPr>
              <a:t>Closure at month 13, f = 1.20: mean duration 11.99 months — alongside 76.2% of paths never completing.</a:t>
            </a:r>
            <a:endParaRPr lang="en-US" sz="1500" dirty="0"/>
          </a:p>
        </p:txBody>
      </p:sp>
      <p:sp>
        <p:nvSpPr>
          <p:cNvPr id="9" name="Text 7"/>
          <p:cNvSpPr/>
          <p:nvPr/>
        </p:nvSpPr>
        <p:spPr>
          <a:xfrm>
            <a:off x="640080" y="6263640"/>
            <a:ext cx="10881360" cy="365760"/>
          </a:xfrm>
          <a:prstGeom prst="rect">
            <a:avLst/>
          </a:prstGeom>
          <a:noFill/>
          <a:ln/>
        </p:spPr>
        <p:txBody>
          <a:bodyPr wrap="square" lIns="0" tIns="0" rIns="0" bIns="0" rtlCol="0" anchor="ctr"/>
          <a:lstStyle/>
          <a:p>
            <a:pPr indent="0" marL="0">
              <a:buNone/>
            </a:pPr>
            <a:r>
              <a:rPr lang="en-US" sz="900" i="1" dirty="0">
                <a:solidFill>
                  <a:srgbClr val="6B6B6B"/>
                </a:solidFill>
                <a:latin typeface="Calibri" pitchFamily="34" charset="0"/>
                <a:ea typeface="Calibri" pitchFamily="34" charset="-122"/>
                <a:cs typeface="Calibri" pitchFamily="34" charset="-120"/>
              </a:rPr>
              <a:t>baseline_closure_v1_canonical.json → /scenarios/closure_m13/RBF</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What this study does not claim</a:t>
            </a:r>
            <a:endParaRPr lang="en-US" sz="3200" dirty="0"/>
          </a:p>
        </p:txBody>
      </p:sp>
      <p:sp>
        <p:nvSpPr>
          <p:cNvPr id="3" name="Shape 1"/>
          <p:cNvSpPr/>
          <p:nvPr/>
        </p:nvSpPr>
        <p:spPr>
          <a:xfrm>
            <a:off x="685800" y="1655064"/>
            <a:ext cx="310896" cy="310896"/>
          </a:xfrm>
          <a:prstGeom prst="ellipse">
            <a:avLst/>
          </a:prstGeom>
          <a:solidFill>
            <a:srgbClr val="D55E00"/>
          </a:solidFill>
          <a:ln/>
        </p:spPr>
      </p:sp>
      <p:sp>
        <p:nvSpPr>
          <p:cNvPr id="4" name="Text 2"/>
          <p:cNvSpPr/>
          <p:nvPr/>
        </p:nvSpPr>
        <p:spPr>
          <a:xfrm>
            <a:off x="1234440" y="157276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predictive validity</a:t>
            </a:r>
            <a:endParaRPr lang="en-US" sz="1500" dirty="0"/>
          </a:p>
        </p:txBody>
      </p:sp>
      <p:sp>
        <p:nvSpPr>
          <p:cNvPr id="5" name="Text 3"/>
          <p:cNvSpPr/>
          <p:nvPr/>
        </p:nvSpPr>
        <p:spPr>
          <a:xfrm>
            <a:off x="4434840" y="157276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 demonstration risk score is trained on synthetic data whose label is a formula over the same features. Generating-function AUC 0.9098 vs reported ensemble 0.9182 — the figure measured the chosen noise variance, and is withdrawn.</a:t>
            </a:r>
            <a:endParaRPr lang="en-US" sz="1250" dirty="0"/>
          </a:p>
        </p:txBody>
      </p:sp>
      <p:sp>
        <p:nvSpPr>
          <p:cNvPr id="6" name="Shape 4"/>
          <p:cNvSpPr/>
          <p:nvPr/>
        </p:nvSpPr>
        <p:spPr>
          <a:xfrm>
            <a:off x="685800" y="2752344"/>
            <a:ext cx="310896" cy="310896"/>
          </a:xfrm>
          <a:prstGeom prst="ellipse">
            <a:avLst/>
          </a:prstGeom>
          <a:solidFill>
            <a:srgbClr val="D55E00"/>
          </a:solidFill>
          <a:ln/>
        </p:spPr>
      </p:sp>
      <p:sp>
        <p:nvSpPr>
          <p:cNvPr id="7" name="Text 5"/>
          <p:cNvSpPr/>
          <p:nvPr/>
        </p:nvSpPr>
        <p:spPr>
          <a:xfrm>
            <a:off x="1234440" y="267004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affordability claim</a:t>
            </a:r>
            <a:endParaRPr lang="en-US" sz="1500" dirty="0"/>
          </a:p>
        </p:txBody>
      </p:sp>
      <p:sp>
        <p:nvSpPr>
          <p:cNvPr id="8" name="Text 6"/>
          <p:cNvSpPr/>
          <p:nvPr/>
        </p:nvSpPr>
        <p:spPr>
          <a:xfrm>
            <a:off x="4434840" y="267004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Burden is measured against revenue, not against what the seller retains. Margins, costs, reserves and other obligations are outside the model.</a:t>
            </a:r>
            <a:endParaRPr lang="en-US" sz="1250" dirty="0"/>
          </a:p>
        </p:txBody>
      </p:sp>
      <p:sp>
        <p:nvSpPr>
          <p:cNvPr id="9" name="Shape 7"/>
          <p:cNvSpPr/>
          <p:nvPr/>
        </p:nvSpPr>
        <p:spPr>
          <a:xfrm>
            <a:off x="685800" y="3849624"/>
            <a:ext cx="310896" cy="310896"/>
          </a:xfrm>
          <a:prstGeom prst="ellipse">
            <a:avLst/>
          </a:prstGeom>
          <a:solidFill>
            <a:srgbClr val="D55E00"/>
          </a:solidFill>
          <a:ln/>
        </p:spPr>
      </p:sp>
      <p:sp>
        <p:nvSpPr>
          <p:cNvPr id="10" name="Text 8"/>
          <p:cNvSpPr/>
          <p:nvPr/>
        </p:nvSpPr>
        <p:spPr>
          <a:xfrm>
            <a:off x="1234440" y="376732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default claim, either way</a:t>
            </a:r>
            <a:endParaRPr lang="en-US" sz="1500" dirty="0"/>
          </a:p>
        </p:txBody>
      </p:sp>
      <p:sp>
        <p:nvSpPr>
          <p:cNvPr id="11" name="Text 9"/>
          <p:cNvSpPr/>
          <p:nvPr/>
        </p:nvSpPr>
        <p:spPr>
          <a:xfrm>
            <a:off x="4434840" y="376732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There is no default model here. The closure result disproves any guarantee of contractual completion — it does not show defaults or a default rate.</a:t>
            </a:r>
            <a:endParaRPr lang="en-US" sz="1250" dirty="0"/>
          </a:p>
        </p:txBody>
      </p:sp>
      <p:sp>
        <p:nvSpPr>
          <p:cNvPr id="12" name="Shape 10"/>
          <p:cNvSpPr/>
          <p:nvPr/>
        </p:nvSpPr>
        <p:spPr>
          <a:xfrm>
            <a:off x="685800" y="4946904"/>
            <a:ext cx="310896" cy="310896"/>
          </a:xfrm>
          <a:prstGeom prst="ellipse">
            <a:avLst/>
          </a:prstGeom>
          <a:solidFill>
            <a:srgbClr val="D55E00"/>
          </a:solidFill>
          <a:ln/>
        </p:spPr>
      </p:sp>
      <p:sp>
        <p:nvSpPr>
          <p:cNvPr id="13" name="Text 11"/>
          <p:cNvSpPr/>
          <p:nvPr/>
        </p:nvSpPr>
        <p:spPr>
          <a:xfrm>
            <a:off x="1234440" y="4864608"/>
            <a:ext cx="3108960" cy="384048"/>
          </a:xfrm>
          <a:prstGeom prst="rect">
            <a:avLst/>
          </a:prstGeom>
          <a:noFill/>
          <a:ln/>
        </p:spPr>
        <p:txBody>
          <a:bodyPr wrap="square" lIns="0" tIns="0" rIns="0" bIns="0" rtlCol="0" anchor="t"/>
          <a:lstStyle/>
          <a:p>
            <a:pPr indent="0" marL="0">
              <a:buNone/>
            </a:pPr>
            <a:r>
              <a:rPr lang="en-US" sz="1500" b="1" dirty="0">
                <a:solidFill>
                  <a:srgbClr val="1A1A1A"/>
                </a:solidFill>
                <a:latin typeface="Cambria" pitchFamily="34" charset="0"/>
                <a:ea typeface="Cambria" pitchFamily="34" charset="-122"/>
                <a:cs typeface="Cambria" pitchFamily="34" charset="-120"/>
              </a:rPr>
              <a:t>No causal or population claim</a:t>
            </a:r>
            <a:endParaRPr lang="en-US" sz="1500" dirty="0"/>
          </a:p>
        </p:txBody>
      </p:sp>
      <p:sp>
        <p:nvSpPr>
          <p:cNvPr id="14" name="Text 12"/>
          <p:cNvSpPr/>
          <p:nvPr/>
        </p:nvSpPr>
        <p:spPr>
          <a:xfrm>
            <a:off x="4434840" y="4864608"/>
            <a:ext cx="7086600" cy="960120"/>
          </a:xfrm>
          <a:prstGeom prst="rect">
            <a:avLst/>
          </a:prstGeom>
          <a:noFill/>
          <a:ln/>
        </p:spPr>
        <p:txBody>
          <a:bodyPr wrap="square" lIns="0" tIns="0" rIns="0" bIns="0" rtlCol="0" anchor="t"/>
          <a:lstStyle/>
          <a:p>
            <a:pPr indent="0" marL="0">
              <a:lnSpc>
                <a:spcPts val="1800"/>
              </a:lnSpc>
              <a:buNone/>
            </a:pPr>
            <a:r>
              <a:rPr lang="en-US" sz="1250" dirty="0">
                <a:solidFill>
                  <a:srgbClr val="333333"/>
                </a:solidFill>
                <a:latin typeface="Calibri" pitchFamily="34" charset="0"/>
                <a:ea typeface="Calibri" pitchFamily="34" charset="-122"/>
                <a:cs typeface="Calibri" pitchFamily="34" charset="-120"/>
              </a:rPr>
              <a:t>Nothing here is evidence about Vietnamese sellers, or any seller. Vietnam is the motivating setting; no parameter was estimated from Vietnamese data.</a:t>
            </a:r>
            <a:endParaRPr lang="en-US" sz="1250" dirty="0"/>
          </a:p>
        </p:txBody>
      </p:sp>
      <p:sp>
        <p:nvSpPr>
          <p:cNvPr id="15" name="Text 13"/>
          <p:cNvSpPr/>
          <p:nvPr/>
        </p:nvSpPr>
        <p:spPr>
          <a:xfrm>
            <a:off x="640080" y="5806440"/>
            <a:ext cx="10881360" cy="457200"/>
          </a:xfrm>
          <a:prstGeom prst="rect">
            <a:avLst/>
          </a:prstGeom>
          <a:noFill/>
          <a:ln/>
        </p:spPr>
        <p:txBody>
          <a:bodyPr wrap="square" lIns="0" tIns="0" rIns="0" bIns="0"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The fixed arm is modelled as paid in full and on time — an optimistic scheduled-recovery benchmark, which flatters the comparison against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881360" cy="82296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Every figure traces to a checksummed artifact</a:t>
            </a:r>
            <a:endParaRPr lang="en-US" sz="3200" dirty="0"/>
          </a:p>
        </p:txBody>
      </p:sp>
      <p:sp>
        <p:nvSpPr>
          <p:cNvPr id="3" name="Shape 1"/>
          <p:cNvSpPr/>
          <p:nvPr/>
        </p:nvSpPr>
        <p:spPr>
          <a:xfrm>
            <a:off x="640080" y="1645920"/>
            <a:ext cx="3383280" cy="1600200"/>
          </a:xfrm>
          <a:prstGeom prst="roundRect">
            <a:avLst>
              <a:gd name="adj" fmla="val 4571"/>
            </a:avLst>
          </a:prstGeom>
          <a:solidFill>
            <a:srgbClr val="FAFAFA"/>
          </a:solidFill>
          <a:ln w="12700">
            <a:solidFill>
              <a:srgbClr val="D8D8D8"/>
            </a:solidFill>
            <a:prstDash val="solid"/>
          </a:ln>
        </p:spPr>
      </p:sp>
      <p:sp>
        <p:nvSpPr>
          <p:cNvPr id="4" name="Text 2"/>
          <p:cNvSpPr/>
          <p:nvPr/>
        </p:nvSpPr>
        <p:spPr>
          <a:xfrm>
            <a:off x="93268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5</a:t>
            </a:r>
            <a:endParaRPr lang="en-US" sz="3400" dirty="0"/>
          </a:p>
        </p:txBody>
      </p:sp>
      <p:sp>
        <p:nvSpPr>
          <p:cNvPr id="5" name="Text 3"/>
          <p:cNvSpPr/>
          <p:nvPr/>
        </p:nvSpPr>
        <p:spPr>
          <a:xfrm>
            <a:off x="93268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canonical artifacts, each with a</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registered SHA-256</a:t>
            </a:r>
            <a:endParaRPr lang="en-US" sz="1200" dirty="0"/>
          </a:p>
        </p:txBody>
      </p:sp>
      <p:sp>
        <p:nvSpPr>
          <p:cNvPr id="6" name="Shape 4"/>
          <p:cNvSpPr/>
          <p:nvPr/>
        </p:nvSpPr>
        <p:spPr>
          <a:xfrm>
            <a:off x="4389120" y="1645920"/>
            <a:ext cx="3383280" cy="1600200"/>
          </a:xfrm>
          <a:prstGeom prst="roundRect">
            <a:avLst>
              <a:gd name="adj" fmla="val 4571"/>
            </a:avLst>
          </a:prstGeom>
          <a:solidFill>
            <a:srgbClr val="FAFAFA"/>
          </a:solidFill>
          <a:ln w="12700">
            <a:solidFill>
              <a:srgbClr val="D8D8D8"/>
            </a:solidFill>
            <a:prstDash val="solid"/>
          </a:ln>
        </p:spPr>
      </p:sp>
      <p:sp>
        <p:nvSpPr>
          <p:cNvPr id="7" name="Text 5"/>
          <p:cNvSpPr/>
          <p:nvPr/>
        </p:nvSpPr>
        <p:spPr>
          <a:xfrm>
            <a:off x="468172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1,008</a:t>
            </a:r>
            <a:endParaRPr lang="en-US" sz="3400" dirty="0"/>
          </a:p>
        </p:txBody>
      </p:sp>
      <p:sp>
        <p:nvSpPr>
          <p:cNvPr id="8" name="Text 6"/>
          <p:cNvSpPr/>
          <p:nvPr/>
        </p:nvSpPr>
        <p:spPr>
          <a:xfrm>
            <a:off x="468172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tests passing — 379 backend,</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629 simulation</a:t>
            </a:r>
            <a:endParaRPr lang="en-US" sz="1200" dirty="0"/>
          </a:p>
        </p:txBody>
      </p:sp>
      <p:sp>
        <p:nvSpPr>
          <p:cNvPr id="9" name="Shape 7"/>
          <p:cNvSpPr/>
          <p:nvPr/>
        </p:nvSpPr>
        <p:spPr>
          <a:xfrm>
            <a:off x="8138160" y="1645920"/>
            <a:ext cx="3383280" cy="1600200"/>
          </a:xfrm>
          <a:prstGeom prst="roundRect">
            <a:avLst>
              <a:gd name="adj" fmla="val 4571"/>
            </a:avLst>
          </a:prstGeom>
          <a:solidFill>
            <a:srgbClr val="FAFAFA"/>
          </a:solidFill>
          <a:ln w="12700">
            <a:solidFill>
              <a:srgbClr val="D8D8D8"/>
            </a:solidFill>
            <a:prstDash val="solid"/>
          </a:ln>
        </p:spPr>
      </p:sp>
      <p:sp>
        <p:nvSpPr>
          <p:cNvPr id="10" name="Text 8"/>
          <p:cNvSpPr/>
          <p:nvPr/>
        </p:nvSpPr>
        <p:spPr>
          <a:xfrm>
            <a:off x="8430768" y="1810512"/>
            <a:ext cx="2798064" cy="749808"/>
          </a:xfrm>
          <a:prstGeom prst="rect">
            <a:avLst/>
          </a:prstGeom>
          <a:noFill/>
          <a:ln/>
        </p:spPr>
        <p:txBody>
          <a:bodyPr wrap="square" lIns="0" tIns="0" rIns="0" bIns="0" rtlCol="0" anchor="ctr"/>
          <a:lstStyle/>
          <a:p>
            <a:pPr indent="0" marL="0">
              <a:buNone/>
            </a:pPr>
            <a:r>
              <a:rPr lang="en-US" sz="3400" b="1" dirty="0">
                <a:solidFill>
                  <a:srgbClr val="0072B2"/>
                </a:solidFill>
                <a:latin typeface="Cambria" pitchFamily="34" charset="0"/>
                <a:ea typeface="Cambria" pitchFamily="34" charset="-122"/>
                <a:cs typeface="Cambria" pitchFamily="34" charset="-120"/>
              </a:rPr>
              <a:t>44</a:t>
            </a:r>
            <a:endParaRPr lang="en-US" sz="3400" dirty="0"/>
          </a:p>
        </p:txBody>
      </p:sp>
      <p:sp>
        <p:nvSpPr>
          <p:cNvPr id="11" name="Text 9"/>
          <p:cNvSpPr/>
          <p:nvPr/>
        </p:nvSpPr>
        <p:spPr>
          <a:xfrm>
            <a:off x="8430768" y="2578608"/>
            <a:ext cx="2798064" cy="548640"/>
          </a:xfrm>
          <a:prstGeom prst="rect">
            <a:avLst/>
          </a:prstGeom>
          <a:noFill/>
          <a:ln/>
        </p:spPr>
        <p:txBody>
          <a:bodyPr wrap="square" lIns="0" tIns="0" rIns="0" bIns="0" rtlCol="0" anchor="t"/>
          <a:lstStyle/>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verified sources, with 6</a:t>
            </a:r>
            <a:endParaRPr lang="en-US" sz="1200" dirty="0"/>
          </a:p>
          <a:p>
            <a:pPr indent="0" marL="0">
              <a:lnSpc>
                <a:spcPts val="1600"/>
              </a:lnSpc>
              <a:buNone/>
            </a:pPr>
            <a:r>
              <a:rPr lang="en-US" sz="1200" dirty="0">
                <a:solidFill>
                  <a:srgbClr val="444444"/>
                </a:solidFill>
                <a:latin typeface="Calibri" pitchFamily="34" charset="0"/>
                <a:ea typeface="Calibri" pitchFamily="34" charset="-122"/>
                <a:cs typeface="Calibri" pitchFamily="34" charset="-120"/>
              </a:rPr>
              <a:t>evidence gaps stated openly</a:t>
            </a:r>
            <a:endParaRPr lang="en-US" sz="1200" dirty="0"/>
          </a:p>
        </p:txBody>
      </p:sp>
      <p:sp>
        <p:nvSpPr>
          <p:cNvPr id="12" name="Text 10"/>
          <p:cNvSpPr/>
          <p:nvPr/>
        </p:nvSpPr>
        <p:spPr>
          <a:xfrm>
            <a:off x="640080" y="3520440"/>
            <a:ext cx="10881360" cy="365760"/>
          </a:xfrm>
          <a:prstGeom prst="rect">
            <a:avLst/>
          </a:prstGeom>
          <a:noFill/>
          <a:ln/>
        </p:spPr>
        <p:txBody>
          <a:bodyPr wrap="square" lIns="0" tIns="0" rIns="0" bIns="0" rtlCol="0" anchor="ctr"/>
          <a:lstStyle/>
          <a:p>
            <a:pPr indent="0" marL="0">
              <a:buNone/>
            </a:pPr>
            <a:r>
              <a:rPr lang="en-US" sz="1600" b="1" dirty="0">
                <a:solidFill>
                  <a:srgbClr val="1A1A1A"/>
                </a:solidFill>
                <a:latin typeface="Cambria" pitchFamily="34" charset="0"/>
                <a:ea typeface="Cambria" pitchFamily="34" charset="-122"/>
                <a:cs typeface="Cambria" pitchFamily="34" charset="-120"/>
              </a:rPr>
              <a:t>Reproducibility, stated at the strength the measurement supports</a:t>
            </a:r>
            <a:endParaRPr lang="en-US" sz="1600" dirty="0"/>
          </a:p>
        </p:txBody>
      </p:sp>
      <p:sp>
        <p:nvSpPr>
          <p:cNvPr id="13" name="Text 11"/>
          <p:cNvSpPr/>
          <p:nvPr/>
        </p:nvSpPr>
        <p:spPr>
          <a:xfrm>
            <a:off x="640080" y="3977640"/>
            <a:ext cx="10881360" cy="173736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All five artifacts reproduce numerically at published precision on every platform tested.</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Byte equality holds within a fixed runtime, not across platforms — 3 of 5 byte-identical on macOS CPython 3.11.5, 5 of 5 on Linux 3.10.12.</a:t>
            </a:r>
            <a:endParaRPr lang="en-US" sz="1300" dirty="0"/>
          </a:p>
          <a:p>
            <a:pPr marL="342900" indent="-342900">
              <a:spcAft>
                <a:spcPts val="800"/>
              </a:spcAft>
              <a:buSzPct val="100000"/>
              <a:buChar char="•"/>
            </a:pPr>
            <a:r>
              <a:rPr lang="en-US" sz="1300" dirty="0">
                <a:solidFill>
                  <a:srgbClr val="333333"/>
                </a:solidFill>
                <a:latin typeface="Calibri" pitchFamily="34" charset="0"/>
                <a:ea typeface="Calibri" pitchFamily="34" charset="-122"/>
                <a:cs typeface="Calibri" pitchFamily="34" charset="-120"/>
              </a:rPr>
              <a:t>An earlier claim of unqualified byte-for-byte reproducibility rested on a step that re-hashed the committed file rather than regenerating it. Both the claim and the evidence were corrected.</a:t>
            </a:r>
            <a:endParaRPr lang="en-US" sz="1300" dirty="0"/>
          </a:p>
        </p:txBody>
      </p:sp>
      <p:sp>
        <p:nvSpPr>
          <p:cNvPr id="14" name="Text 12"/>
          <p:cNvSpPr/>
          <p:nvPr/>
        </p:nvSpPr>
        <p:spPr>
          <a:xfrm>
            <a:off x="640080" y="5760720"/>
            <a:ext cx="10881360" cy="411480"/>
          </a:xfrm>
          <a:prstGeom prst="rect">
            <a:avLst/>
          </a:prstGeom>
          <a:noFill/>
          <a:ln/>
        </p:spPr>
        <p:txBody>
          <a:bodyPr wrap="square" lIns="0" tIns="0" rIns="0" bIns="0" rtlCol="0" anchor="ctr"/>
          <a:lstStyle/>
          <a:p>
            <a:pPr indent="0" marL="0">
              <a:buNone/>
            </a:pPr>
            <a:r>
              <a:rPr lang="en-US" sz="1100" i="1" dirty="0">
                <a:solidFill>
                  <a:srgbClr val="6B6B6B"/>
                </a:solidFill>
                <a:latin typeface="Calibri" pitchFamily="34" charset="0"/>
                <a:ea typeface="Calibri" pitchFamily="34" charset="-122"/>
                <a:cs typeface="Calibri" pitchFamily="34" charset="-120"/>
              </a:rPr>
              <a:t>9 browser tests skip where no chromium build is available. They are reported as skips, never counted as passes.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822960" y="14630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would change the conclusion</a:t>
            </a:r>
            <a:endParaRPr lang="en-US" sz="3200" dirty="0"/>
          </a:p>
        </p:txBody>
      </p:sp>
      <p:sp>
        <p:nvSpPr>
          <p:cNvPr id="3" name="Shape 1"/>
          <p:cNvSpPr/>
          <p:nvPr/>
        </p:nvSpPr>
        <p:spPr>
          <a:xfrm>
            <a:off x="822960" y="2331720"/>
            <a:ext cx="1463040" cy="41148"/>
          </a:xfrm>
          <a:prstGeom prst="rect">
            <a:avLst/>
          </a:prstGeom>
          <a:solidFill>
            <a:srgbClr val="0072B2"/>
          </a:solidFill>
          <a:ln/>
        </p:spPr>
      </p:sp>
      <p:sp>
        <p:nvSpPr>
          <p:cNvPr id="4" name="Text 2"/>
          <p:cNvSpPr/>
          <p:nvPr/>
        </p:nvSpPr>
        <p:spPr>
          <a:xfrm>
            <a:off x="822960" y="2743200"/>
            <a:ext cx="10515600" cy="2194560"/>
          </a:xfrm>
          <a:prstGeom prst="rect">
            <a:avLst/>
          </a:prstGeom>
          <a:noFill/>
          <a:ln/>
        </p:spPr>
        <p:txBody>
          <a:bodyPr wrap="square" lIns="0" tIns="0" rIns="0" bIns="0" rtlCol="0" anchor="ctr"/>
          <a:lstStyle/>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Observed seller revenue paired with adjudicated repayment outcomes would let us calibrate the revenue process and check whether the simulated magnitudes resemble anything real.</a:t>
            </a:r>
            <a:endParaRPr lang="en-US" sz="1600" dirty="0"/>
          </a:p>
          <a:p>
            <a:pPr indent="0" marL="0">
              <a:lnSpc>
                <a:spcPts val="2400"/>
              </a:lnSpc>
              <a:buNone/>
            </a:pPr>
            <a:endParaRPr lang="en-US" sz="1600" dirty="0"/>
          </a:p>
          <a:p>
            <a:pPr indent="0" marL="0">
              <a:lnSpc>
                <a:spcPts val="2400"/>
              </a:lnSpc>
              <a:buNone/>
            </a:pPr>
            <a:r>
              <a:rPr lang="en-US" sz="1600" dirty="0">
                <a:solidFill>
                  <a:srgbClr val="D8D8D8"/>
                </a:solidFill>
                <a:latin typeface="Calibri" pitchFamily="34" charset="0"/>
                <a:ea typeface="Calibri" pitchFamily="34" charset="-122"/>
                <a:cs typeface="Calibri" pitchFamily="34" charset="-120"/>
              </a:rPr>
              <a:t>It would not, on its own, deliver this comparison. Observational data cannot show both contracts on the same seller under the same realised path, because each seller takes at most one. That would still need randomisation, a credible quasi-experimental design, or a structural counterfactual.</a:t>
            </a:r>
            <a:endParaRPr lang="en-US" sz="1600" dirty="0"/>
          </a:p>
        </p:txBody>
      </p:sp>
      <p:sp>
        <p:nvSpPr>
          <p:cNvPr id="5" name="Text 3"/>
          <p:cNvSpPr/>
          <p:nvPr/>
        </p:nvSpPr>
        <p:spPr>
          <a:xfrm>
            <a:off x="822960" y="5166360"/>
            <a:ext cx="1051560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Calibration and causal identification are different problems. Observed data solves only the first.</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Revenue-Contingent Financing Under Volatile Sales</dc:title>
  <dc:subject>PptxGenJS Presentation</dc:subject>
  <dc:creator>RBF research</dc:creator>
  <cp:lastModifiedBy>RBF research</cp:lastModifiedBy>
  <cp:revision>1</cp:revision>
  <dcterms:created xsi:type="dcterms:W3CDTF">2026-08-17T19:55:36Z</dcterms:created>
  <dcterms:modified xsi:type="dcterms:W3CDTF">2026-08-17T19:55:36Z</dcterms:modified>
</cp:coreProperties>
</file>